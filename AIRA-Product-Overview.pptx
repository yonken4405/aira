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AIRA is an offline-first emergency reporting platform for Cebu. Two surfaces: a citizen app with a four-button Bisaya SOS grid, and a responder console that dispatches on a 64-byte payload. The deck follows the repo's own product, design and security docs.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failure condition, not the feature list. Emergencies take out the network, users are panicked, and the language on screen matters. Everything AIRA does is a consequence of those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packages, one product. The mobile app logs the payload, the web console consumes it, and packages/ui owns the category model and payload helpers so neither app re-implements the wire format. packages/db is modelled but intentionally dormant.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citizen flow is open app, tap one giant button, done. Target is two taps and under a second, with no reading required. The Bisaya word is the largest element; English is only a hint.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category set is closed: SUNOG, MEDIKAL, KRIMEN, BAHA. Citizens cannot type anything, which removes an entire class of abuse. The payload ID equals the Bisaya label so the format stays human-readable.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wire format is frozen: category, latitude, longitude, rounded to four decimals, no keys and no PII. Under 64 bytes per alert. Both apps must call the shared helpers in packages/ui, never their own copy.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console is structured data, not conversation. Queue rows, category-colored map markers and a routing panel that shows the decoded payload so operators can verify what actually arrived.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Operate Mode is the design law: high contrast, system fonts, near-zero radius, no shadows, no gradients, no decorative motion. Category color is semantic only. Tokens live in one shared Tailwind preset.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location like health data. The payload carries no identity at all, every boundary is validated with a closed enum, RBAC is deny-by-default, and audit events deliberately exclude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monorepo is deliberate: shared payload logic and shared tokens in one place. The technology choices are pinned, so the app stays small and the tests stay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decisive architectural call. Voice and LLM features were removed because of the size cap, low-end Android targets and the absence of reliable offline Cebuano speech recognition. An unreliable voice path in an emergency is worse than none.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is not a follow-up. Unit tests cover the payload helpers including rejection cases, integration tests cover the API, and component tests assert the four Bisaya buttons behave. pnpm check is the gate. Gaps are stated honestly, not hidden.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exists. The MVP proves the citizen flow and the wire format; transport, GPS, persistence and auth are the next phase in dependency order. Never claim those as done.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product law: the flow must be immediately intuitive for panicked users. Two taps, one second, 64 bytes, zero PII. When in doubt, remove.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731520" y="713232"/>
            <a:ext cx="347472" cy="50292"/>
          </a:xfrm>
          <a:prstGeom prst="rect">
            <a:avLst/>
          </a:prstGeom>
          <a:solidFill>
            <a:srgbClr val="FF3B1F"/>
          </a:solidFill>
          <a:ln>
            <a:noFill/>
          </a:ln>
          <a:effectLst/>
        </p:spPr>
        <p:txBody>
          <a:bodyPr rtlCol="0" anchor="ctr"/>
          <a:lstStyle/>
          <a:p/>
        </p:txBody>
      </p:sp>
      <p:sp>
        <p:nvSpPr>
          <p:cNvPr id="3" name="Rectangle 2"/>
          <p:cNvSpPr/>
          <p:nvPr/>
        </p:nvSpPr>
        <p:spPr>
          <a:xfrm>
            <a:off x="1188720" y="713232"/>
            <a:ext cx="347472" cy="50292"/>
          </a:xfrm>
          <a:prstGeom prst="rect">
            <a:avLst/>
          </a:prstGeom>
          <a:solidFill>
            <a:srgbClr val="00D08A"/>
          </a:solidFill>
          <a:ln>
            <a:noFill/>
          </a:ln>
          <a:effectLst/>
        </p:spPr>
        <p:txBody>
          <a:bodyPr rtlCol="0" anchor="ctr"/>
          <a:lstStyle/>
          <a:p/>
        </p:txBody>
      </p:sp>
      <p:sp>
        <p:nvSpPr>
          <p:cNvPr id="4" name="Rectangle 3"/>
          <p:cNvSpPr/>
          <p:nvPr/>
        </p:nvSpPr>
        <p:spPr>
          <a:xfrm>
            <a:off x="1645920" y="713232"/>
            <a:ext cx="347472" cy="50292"/>
          </a:xfrm>
          <a:prstGeom prst="rect">
            <a:avLst/>
          </a:prstGeom>
          <a:solidFill>
            <a:srgbClr val="FFC53D"/>
          </a:solidFill>
          <a:ln>
            <a:noFill/>
          </a:ln>
          <a:effectLst/>
        </p:spPr>
        <p:txBody>
          <a:bodyPr rtlCol="0" anchor="ctr"/>
          <a:lstStyle/>
          <a:p/>
        </p:txBody>
      </p:sp>
      <p:sp>
        <p:nvSpPr>
          <p:cNvPr id="5" name="Rectangle 4"/>
          <p:cNvSpPr/>
          <p:nvPr/>
        </p:nvSpPr>
        <p:spPr>
          <a:xfrm>
            <a:off x="2103120" y="713232"/>
            <a:ext cx="347472" cy="50292"/>
          </a:xfrm>
          <a:prstGeom prst="rect">
            <a:avLst/>
          </a:prstGeom>
          <a:solidFill>
            <a:srgbClr val="4CC2FF"/>
          </a:solidFill>
          <a:ln>
            <a:noFill/>
          </a:ln>
          <a:effectLst/>
        </p:spPr>
        <p:txBody>
          <a:bodyPr rtlCol="0" anchor="ctr"/>
          <a:lstStyle/>
          <a:p/>
        </p:txBody>
      </p:sp>
      <p:sp>
        <p:nvSpPr>
          <p:cNvPr id="6" name="TextBox 5"/>
          <p:cNvSpPr txBox="1"/>
          <p:nvPr/>
        </p:nvSpPr>
        <p:spPr>
          <a:xfrm>
            <a:off x="731520" y="960120"/>
            <a:ext cx="7315200" cy="274320"/>
          </a:xfrm>
          <a:prstGeom prst="rect">
            <a:avLst/>
          </a:prstGeom>
          <a:noFill/>
        </p:spPr>
        <p:txBody>
          <a:bodyPr wrap="square" lIns="0" rIns="0" tIns="0" bIns="0" anchor="t">
            <a:spAutoFit/>
          </a:bodyPr>
          <a:lstStyle/>
          <a:p>
            <a:pPr algn="l"/>
            <a:r>
              <a:rPr sz="1100" b="1" i="0" spc="200">
                <a:solidFill>
                  <a:srgbClr val="93A1B0"/>
                </a:solidFill>
                <a:latin typeface="Segoe UI"/>
              </a:rPr>
              <a:t>PRODUCT OVERVIEW  ·  OCTOBER 2026</a:t>
            </a:r>
          </a:p>
        </p:txBody>
      </p:sp>
      <p:sp>
        <p:nvSpPr>
          <p:cNvPr id="7" name="TextBox 6"/>
          <p:cNvSpPr txBox="1"/>
          <p:nvPr/>
        </p:nvSpPr>
        <p:spPr>
          <a:xfrm>
            <a:off x="731520" y="1298448"/>
            <a:ext cx="4937760" cy="1143000"/>
          </a:xfrm>
          <a:prstGeom prst="rect">
            <a:avLst/>
          </a:prstGeom>
          <a:noFill/>
        </p:spPr>
        <p:txBody>
          <a:bodyPr wrap="square" lIns="0" rIns="0" tIns="0" bIns="0" anchor="t">
            <a:spAutoFit/>
          </a:bodyPr>
          <a:lstStyle/>
          <a:p>
            <a:pPr algn="l"/>
            <a:r>
              <a:rPr sz="7800" b="1" i="0">
                <a:solidFill>
                  <a:srgbClr val="F2F5F8"/>
                </a:solidFill>
                <a:latin typeface="Segoe UI"/>
              </a:rPr>
              <a:t>AIRA</a:t>
            </a:r>
          </a:p>
        </p:txBody>
      </p:sp>
      <p:sp>
        <p:nvSpPr>
          <p:cNvPr id="8" name="TextBox 7"/>
          <p:cNvSpPr txBox="1"/>
          <p:nvPr/>
        </p:nvSpPr>
        <p:spPr>
          <a:xfrm>
            <a:off x="3566160" y="1783080"/>
            <a:ext cx="4206240" cy="365760"/>
          </a:xfrm>
          <a:prstGeom prst="rect">
            <a:avLst/>
          </a:prstGeom>
          <a:noFill/>
        </p:spPr>
        <p:txBody>
          <a:bodyPr wrap="square" lIns="0" rIns="0" tIns="0" bIns="0" anchor="t">
            <a:spAutoFit/>
          </a:bodyPr>
          <a:lstStyle/>
          <a:p>
            <a:pPr algn="l"/>
            <a:r>
              <a:rPr sz="1200" b="1" i="0" spc="240">
                <a:solidFill>
                  <a:srgbClr val="93A1B0"/>
                </a:solidFill>
                <a:latin typeface="Segoe UI"/>
              </a:rPr>
              <a:t>AI RESPONSIVE ALERT</a:t>
            </a:r>
          </a:p>
        </p:txBody>
      </p:sp>
      <p:sp>
        <p:nvSpPr>
          <p:cNvPr id="9" name="TextBox 8"/>
          <p:cNvSpPr txBox="1"/>
          <p:nvPr/>
        </p:nvSpPr>
        <p:spPr>
          <a:xfrm>
            <a:off x="731520" y="2697480"/>
            <a:ext cx="9509760" cy="1371600"/>
          </a:xfrm>
          <a:prstGeom prst="rect">
            <a:avLst/>
          </a:prstGeom>
          <a:noFill/>
        </p:spPr>
        <p:txBody>
          <a:bodyPr wrap="square" lIns="0" rIns="0" tIns="0" bIns="0" anchor="t">
            <a:spAutoFit/>
          </a:bodyPr>
          <a:lstStyle/>
          <a:p>
            <a:pPr algn="l">
              <a:lnSpc>
                <a:spcPct val="102000"/>
              </a:lnSpc>
            </a:pPr>
            <a:r>
              <a:rPr sz="4000" b="1" i="0">
                <a:solidFill>
                  <a:srgbClr val="F2F5F8"/>
                </a:solidFill>
                <a:latin typeface="Segoe UI"/>
              </a:rPr>
              <a:t>Emergency reporting that</a:t>
            </a:r>
          </a:p>
          <a:p>
            <a:pPr algn="l">
              <a:lnSpc>
                <a:spcPct val="102000"/>
              </a:lnSpc>
            </a:pPr>
            <a:r>
              <a:rPr sz="4000" b="1" i="0">
                <a:solidFill>
                  <a:srgbClr val="F2F5F8"/>
                </a:solidFill>
                <a:latin typeface="Segoe UI"/>
              </a:rPr>
              <a:t>survives a dead network.</a:t>
            </a:r>
          </a:p>
        </p:txBody>
      </p:sp>
      <p:sp>
        <p:nvSpPr>
          <p:cNvPr id="10" name="TextBox 9"/>
          <p:cNvSpPr txBox="1"/>
          <p:nvPr/>
        </p:nvSpPr>
        <p:spPr>
          <a:xfrm>
            <a:off x="731520" y="4315968"/>
            <a:ext cx="7863840" cy="822960"/>
          </a:xfrm>
          <a:prstGeom prst="rect">
            <a:avLst/>
          </a:prstGeom>
          <a:noFill/>
        </p:spPr>
        <p:txBody>
          <a:bodyPr wrap="square" lIns="0" rIns="0" tIns="0" bIns="0" anchor="t">
            <a:spAutoFit/>
          </a:bodyPr>
          <a:lstStyle/>
          <a:p>
            <a:pPr algn="l">
              <a:lnSpc>
                <a:spcPct val="132000"/>
              </a:lnSpc>
            </a:pPr>
            <a:r>
              <a:rPr sz="1500" b="0" i="0">
                <a:solidFill>
                  <a:srgbClr val="93A1B0"/>
                </a:solidFill>
                <a:latin typeface="Segoe UI"/>
              </a:rPr>
              <a:t>A four-button Bisaya SOS app for Cebu that works with zero connectivity, paired with a</a:t>
            </a:r>
          </a:p>
          <a:p>
            <a:pPr algn="l">
              <a:lnSpc>
                <a:spcPct val="132000"/>
              </a:lnSpc>
            </a:pPr>
            <a:r>
              <a:rPr sz="1500" b="0" i="0">
                <a:solidFill>
                  <a:srgbClr val="93A1B0"/>
                </a:solidFill>
                <a:latin typeface="Segoe UI"/>
              </a:rPr>
              <a:t>responder console that dispatches on a 64-byte payload.</a:t>
            </a:r>
          </a:p>
        </p:txBody>
      </p:sp>
      <p:sp>
        <p:nvSpPr>
          <p:cNvPr id="11" name="TextBox 10"/>
          <p:cNvSpPr txBox="1"/>
          <p:nvPr/>
        </p:nvSpPr>
        <p:spPr>
          <a:xfrm>
            <a:off x="731520" y="5285232"/>
            <a:ext cx="5852160" cy="274320"/>
          </a:xfrm>
          <a:prstGeom prst="rect">
            <a:avLst/>
          </a:prstGeom>
          <a:noFill/>
        </p:spPr>
        <p:txBody>
          <a:bodyPr wrap="square" lIns="0" rIns="0" tIns="0" bIns="0" anchor="t">
            <a:spAutoFit/>
          </a:bodyPr>
          <a:lstStyle/>
          <a:p>
            <a:pPr algn="l"/>
            <a:r>
              <a:rPr sz="1150" b="0" i="0">
                <a:solidFill>
                  <a:srgbClr val="F2F5F8"/>
                </a:solidFill>
                <a:latin typeface="Segoe UI"/>
              </a:rPr>
              <a:t>Citizen app  ·  Responder console  ·  Shared mesh payload</a:t>
            </a:r>
          </a:p>
        </p:txBody>
      </p:sp>
      <p:sp>
        <p:nvSpPr>
          <p:cNvPr id="12" name="TextBox 11"/>
          <p:cNvSpPr txBox="1"/>
          <p:nvPr/>
        </p:nvSpPr>
        <p:spPr>
          <a:xfrm>
            <a:off x="6888175" y="5285232"/>
            <a:ext cx="4572000" cy="274320"/>
          </a:xfrm>
          <a:prstGeom prst="rect">
            <a:avLst/>
          </a:prstGeom>
          <a:noFill/>
        </p:spPr>
        <p:txBody>
          <a:bodyPr wrap="square" lIns="0" rIns="0" tIns="0" bIns="0" anchor="t">
            <a:spAutoFit/>
          </a:bodyPr>
          <a:lstStyle/>
          <a:p>
            <a:pPr algn="r"/>
            <a:r>
              <a:rPr sz="1050" b="0" i="0">
                <a:solidFill>
                  <a:srgbClr val="93A1B0"/>
                </a:solidFill>
                <a:latin typeface="Consolas"/>
              </a:rPr>
              <a:t>["SUNOG",10.3157,123.8854]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01  ·  THE PROBLEM</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The network fails exactly when the emergency starts.</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02 / 14</a:t>
            </a:r>
          </a:p>
        </p:txBody>
      </p:sp>
      <p:sp>
        <p:nvSpPr>
          <p:cNvPr id="8" name="TextBox 7"/>
          <p:cNvSpPr txBox="1"/>
          <p:nvPr/>
        </p:nvSpPr>
        <p:spPr>
          <a:xfrm>
            <a:off x="731520" y="1920240"/>
            <a:ext cx="5943600" cy="3840480"/>
          </a:xfrm>
          <a:prstGeom prst="rect">
            <a:avLst/>
          </a:prstGeom>
          <a:noFill/>
        </p:spPr>
        <p:txBody>
          <a:bodyPr wrap="square" lIns="0" rIns="0" tIns="0" bIns="0">
            <a:spAutoFit/>
          </a:bodyPr>
          <a:lstStyle/>
          <a:p>
            <a:pPr marL="256032" indent="-256032">
              <a:lnSpc>
                <a:spcPct val="128000"/>
              </a:lnSpc>
              <a:spcAft>
                <a:spcPts val="1600"/>
              </a:spcAft>
              <a:buClr>
                <a:srgbClr val="4C5A6A"/>
              </a:buClr>
              <a:buFont typeface="Arial"/>
              <a:buChar char="—"/>
            </a:pPr>
            <a:r>
              <a:rPr sz="1450">
                <a:solidFill>
                  <a:srgbClr val="F2F5F8"/>
                </a:solidFill>
                <a:latin typeface="Segoe UI"/>
              </a:rPr>
              <a:t>Fires, floods and typhoons take out cell towers first — the moment reports matter most.</a:t>
            </a:r>
          </a:p>
          <a:p>
            <a:pPr marL="256032" indent="-256032">
              <a:lnSpc>
                <a:spcPct val="128000"/>
              </a:lnSpc>
              <a:spcAft>
                <a:spcPts val="1600"/>
              </a:spcAft>
              <a:buClr>
                <a:srgbClr val="4C5A6A"/>
              </a:buClr>
              <a:buFont typeface="Arial"/>
              <a:buChar char="—"/>
            </a:pPr>
            <a:r>
              <a:rPr sz="1450">
                <a:solidFill>
                  <a:srgbClr val="F2F5F8"/>
                </a:solidFill>
                <a:latin typeface="Segoe UI"/>
              </a:rPr>
              <a:t>Panicked hands cannot type a form, read a dropdown, or pick from a menu.</a:t>
            </a:r>
          </a:p>
          <a:p>
            <a:pPr marL="256032" indent="-256032">
              <a:lnSpc>
                <a:spcPct val="128000"/>
              </a:lnSpc>
              <a:spcAft>
                <a:spcPts val="1600"/>
              </a:spcAft>
              <a:buClr>
                <a:srgbClr val="4C5A6A"/>
              </a:buClr>
              <a:buFont typeface="Arial"/>
              <a:buChar char="—"/>
            </a:pPr>
            <a:r>
              <a:rPr sz="1450">
                <a:solidFill>
                  <a:srgbClr val="F2F5F8"/>
                </a:solidFill>
                <a:latin typeface="Segoe UI"/>
              </a:rPr>
              <a:t>Cebuano speakers should not be forced into a second language mid-emergency.</a:t>
            </a:r>
          </a:p>
          <a:p>
            <a:pPr marL="256032" indent="-256032">
              <a:lnSpc>
                <a:spcPct val="128000"/>
              </a:lnSpc>
              <a:spcAft>
                <a:spcPts val="1600"/>
              </a:spcAft>
              <a:buClr>
                <a:srgbClr val="4C5A6A"/>
              </a:buClr>
              <a:buFont typeface="Arial"/>
              <a:buChar char="—"/>
            </a:pPr>
            <a:r>
              <a:rPr sz="1450">
                <a:solidFill>
                  <a:srgbClr val="F2F5F8"/>
                </a:solidFill>
                <a:latin typeface="Segoe UI"/>
              </a:rPr>
              <a:t>Low-end Android phones and a &lt;30 MB install cap rule out heavyweight stacks.</a:t>
            </a:r>
          </a:p>
        </p:txBody>
      </p:sp>
      <p:sp>
        <p:nvSpPr>
          <p:cNvPr id="9" name="Rectangle 8"/>
          <p:cNvSpPr/>
          <p:nvPr/>
        </p:nvSpPr>
        <p:spPr>
          <a:xfrm>
            <a:off x="7086600" y="1783080"/>
            <a:ext cx="4373575" cy="2286000"/>
          </a:xfrm>
          <a:prstGeom prst="rect">
            <a:avLst/>
          </a:prstGeom>
          <a:solidFill>
            <a:srgbClr val="12181F"/>
          </a:solidFill>
          <a:ln w="12700">
            <a:solidFill>
              <a:srgbClr val="2A3441"/>
            </a:solidFill>
          </a:ln>
          <a:effectLst/>
        </p:spPr>
        <p:txBody>
          <a:bodyPr rtlCol="0" anchor="ctr"/>
          <a:lstStyle/>
          <a:p/>
        </p:txBody>
      </p:sp>
      <p:sp>
        <p:nvSpPr>
          <p:cNvPr id="10" name="Rectangle 9"/>
          <p:cNvSpPr/>
          <p:nvPr/>
        </p:nvSpPr>
        <p:spPr>
          <a:xfrm>
            <a:off x="7086600" y="1783080"/>
            <a:ext cx="45720" cy="2286000"/>
          </a:xfrm>
          <a:prstGeom prst="rect">
            <a:avLst/>
          </a:prstGeom>
          <a:solidFill>
            <a:srgbClr val="FF3B1F"/>
          </a:solidFill>
          <a:ln>
            <a:noFill/>
          </a:ln>
          <a:effectLst/>
        </p:spPr>
        <p:txBody>
          <a:bodyPr rtlCol="0" anchor="ctr"/>
          <a:lstStyle/>
          <a:p/>
        </p:txBody>
      </p:sp>
      <p:sp>
        <p:nvSpPr>
          <p:cNvPr id="11" name="TextBox 10"/>
          <p:cNvSpPr txBox="1"/>
          <p:nvPr/>
        </p:nvSpPr>
        <p:spPr>
          <a:xfrm>
            <a:off x="7406640" y="2057400"/>
            <a:ext cx="3566160" cy="274320"/>
          </a:xfrm>
          <a:prstGeom prst="rect">
            <a:avLst/>
          </a:prstGeom>
          <a:noFill/>
        </p:spPr>
        <p:txBody>
          <a:bodyPr wrap="square" lIns="0" rIns="0" tIns="0" bIns="0" anchor="t">
            <a:spAutoFit/>
          </a:bodyPr>
          <a:lstStyle/>
          <a:p>
            <a:pPr algn="l"/>
            <a:r>
              <a:rPr sz="1000" b="1" i="0" spc="160">
                <a:solidFill>
                  <a:srgbClr val="93A1B0"/>
                </a:solidFill>
                <a:latin typeface="Segoe UI"/>
              </a:rPr>
              <a:t>DESIGN CONSTRAINT</a:t>
            </a:r>
          </a:p>
        </p:txBody>
      </p:sp>
      <p:sp>
        <p:nvSpPr>
          <p:cNvPr id="12" name="TextBox 11"/>
          <p:cNvSpPr txBox="1"/>
          <p:nvPr/>
        </p:nvSpPr>
        <p:spPr>
          <a:xfrm>
            <a:off x="7406640" y="2441448"/>
            <a:ext cx="3840480" cy="1097280"/>
          </a:xfrm>
          <a:prstGeom prst="rect">
            <a:avLst/>
          </a:prstGeom>
          <a:noFill/>
        </p:spPr>
        <p:txBody>
          <a:bodyPr wrap="square" lIns="0" rIns="0" tIns="0" bIns="0" anchor="t">
            <a:spAutoFit/>
          </a:bodyPr>
          <a:lstStyle/>
          <a:p>
            <a:pPr algn="l">
              <a:lnSpc>
                <a:spcPct val="118000"/>
              </a:lnSpc>
            </a:pPr>
            <a:r>
              <a:rPr sz="1900" b="1" i="0">
                <a:solidFill>
                  <a:srgbClr val="F2F5F8"/>
                </a:solidFill>
                <a:latin typeface="Segoe UI"/>
              </a:rPr>
              <a:t>An unreliable path in an</a:t>
            </a:r>
          </a:p>
          <a:p>
            <a:pPr algn="l">
              <a:lnSpc>
                <a:spcPct val="118000"/>
              </a:lnSpc>
            </a:pPr>
            <a:r>
              <a:rPr sz="1900" b="1" i="0">
                <a:solidFill>
                  <a:srgbClr val="F2F5F8"/>
                </a:solidFill>
                <a:latin typeface="Segoe UI"/>
              </a:rPr>
              <a:t>emergency is worse than</a:t>
            </a:r>
          </a:p>
          <a:p>
            <a:pPr algn="l">
              <a:lnSpc>
                <a:spcPct val="118000"/>
              </a:lnSpc>
            </a:pPr>
            <a:r>
              <a:rPr sz="1900" b="1" i="0">
                <a:solidFill>
                  <a:srgbClr val="F2F5F8"/>
                </a:solidFill>
                <a:latin typeface="Segoe UI"/>
              </a:rPr>
              <a:t>no path at all.</a:t>
            </a:r>
          </a:p>
        </p:txBody>
      </p:sp>
      <p:sp>
        <p:nvSpPr>
          <p:cNvPr id="13" name="TextBox 12"/>
          <p:cNvSpPr txBox="1"/>
          <p:nvPr/>
        </p:nvSpPr>
        <p:spPr>
          <a:xfrm>
            <a:off x="7086600" y="4389120"/>
            <a:ext cx="4373575" cy="914400"/>
          </a:xfrm>
          <a:prstGeom prst="rect">
            <a:avLst/>
          </a:prstGeom>
          <a:noFill/>
        </p:spPr>
        <p:txBody>
          <a:bodyPr wrap="square" lIns="0" rIns="0" tIns="0" bIns="0" anchor="t">
            <a:spAutoFit/>
          </a:bodyPr>
          <a:lstStyle/>
          <a:p>
            <a:pPr algn="l">
              <a:lnSpc>
                <a:spcPct val="130000"/>
              </a:lnSpc>
            </a:pPr>
            <a:r>
              <a:rPr sz="1200" b="0" i="0">
                <a:solidFill>
                  <a:srgbClr val="93A1B0"/>
                </a:solidFill>
                <a:latin typeface="Segoe UI"/>
              </a:rPr>
              <a:t>Every decision that follows —</a:t>
            </a:r>
          </a:p>
          <a:p>
            <a:pPr algn="l">
              <a:lnSpc>
                <a:spcPct val="130000"/>
              </a:lnSpc>
            </a:pPr>
            <a:r>
              <a:rPr sz="1200" b="0" i="0">
                <a:solidFill>
                  <a:srgbClr val="93A1B0"/>
                </a:solidFill>
                <a:latin typeface="Segoe UI"/>
              </a:rPr>
              <a:t>the button grid, the 64-byte payload,</a:t>
            </a:r>
          </a:p>
          <a:p>
            <a:pPr algn="l">
              <a:lnSpc>
                <a:spcPct val="130000"/>
              </a:lnSpc>
            </a:pPr>
            <a:r>
              <a:rPr sz="1200" b="0" i="0">
                <a:solidFill>
                  <a:srgbClr val="93A1B0"/>
                </a:solidFill>
                <a:latin typeface="Segoe UI"/>
              </a:rPr>
              <a:t>the missing AI — comes from that one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02  ·  THE PRODUCT</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Two surfaces, one frozen payload.</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03 / 14</a:t>
            </a:r>
          </a:p>
        </p:txBody>
      </p:sp>
      <p:sp>
        <p:nvSpPr>
          <p:cNvPr id="8" name="Rectangle 7"/>
          <p:cNvSpPr/>
          <p:nvPr/>
        </p:nvSpPr>
        <p:spPr>
          <a:xfrm>
            <a:off x="731520" y="1783080"/>
            <a:ext cx="2490139" cy="2697480"/>
          </a:xfrm>
          <a:prstGeom prst="rect">
            <a:avLst/>
          </a:prstGeom>
          <a:solidFill>
            <a:srgbClr val="12181F"/>
          </a:solidFill>
          <a:ln w="12700">
            <a:solidFill>
              <a:srgbClr val="2A3441"/>
            </a:solidFill>
          </a:ln>
          <a:effectLst/>
        </p:spPr>
        <p:txBody>
          <a:bodyPr rtlCol="0" anchor="ctr"/>
          <a:lstStyle/>
          <a:p/>
        </p:txBody>
      </p:sp>
      <p:sp>
        <p:nvSpPr>
          <p:cNvPr id="9" name="Rectangle 8"/>
          <p:cNvSpPr/>
          <p:nvPr/>
        </p:nvSpPr>
        <p:spPr>
          <a:xfrm>
            <a:off x="731520" y="1783080"/>
            <a:ext cx="2490139" cy="45720"/>
          </a:xfrm>
          <a:prstGeom prst="rect">
            <a:avLst/>
          </a:prstGeom>
          <a:solidFill>
            <a:srgbClr val="00D08A"/>
          </a:solidFill>
          <a:ln>
            <a:noFill/>
          </a:ln>
          <a:effectLst/>
        </p:spPr>
        <p:txBody>
          <a:bodyPr rtlCol="0" anchor="ctr"/>
          <a:lstStyle/>
          <a:p/>
        </p:txBody>
      </p:sp>
      <p:sp>
        <p:nvSpPr>
          <p:cNvPr id="10" name="TextBox 9"/>
          <p:cNvSpPr txBox="1"/>
          <p:nvPr/>
        </p:nvSpPr>
        <p:spPr>
          <a:xfrm>
            <a:off x="969264" y="2093976"/>
            <a:ext cx="2014651" cy="566928"/>
          </a:xfrm>
          <a:prstGeom prst="rect">
            <a:avLst/>
          </a:prstGeom>
          <a:noFill/>
        </p:spPr>
        <p:txBody>
          <a:bodyPr wrap="square" lIns="0" rIns="0" tIns="0" bIns="0" anchor="t">
            <a:spAutoFit/>
          </a:bodyPr>
          <a:lstStyle/>
          <a:p>
            <a:pPr algn="l">
              <a:lnSpc>
                <a:spcPct val="110000"/>
              </a:lnSpc>
            </a:pPr>
            <a:r>
              <a:rPr sz="1550" b="1" i="0">
                <a:solidFill>
                  <a:srgbClr val="F2F5F8"/>
                </a:solidFill>
                <a:latin typeface="Segoe UI"/>
              </a:rPr>
              <a:t>Citizen App</a:t>
            </a:r>
          </a:p>
        </p:txBody>
      </p:sp>
      <p:sp>
        <p:nvSpPr>
          <p:cNvPr id="11" name="TextBox 10"/>
          <p:cNvSpPr txBox="1"/>
          <p:nvPr/>
        </p:nvSpPr>
        <p:spPr>
          <a:xfrm>
            <a:off x="969264" y="2697480"/>
            <a:ext cx="2014651" cy="274320"/>
          </a:xfrm>
          <a:prstGeom prst="rect">
            <a:avLst/>
          </a:prstGeom>
          <a:noFill/>
        </p:spPr>
        <p:txBody>
          <a:bodyPr wrap="square" lIns="0" rIns="0" tIns="0" bIns="0" anchor="t">
            <a:spAutoFit/>
          </a:bodyPr>
          <a:lstStyle/>
          <a:p>
            <a:pPr algn="l"/>
            <a:r>
              <a:rPr sz="950" b="0" i="0">
                <a:solidFill>
                  <a:srgbClr val="00D08A"/>
                </a:solidFill>
                <a:latin typeface="Consolas"/>
              </a:rPr>
              <a:t>apps/mobile</a:t>
            </a:r>
          </a:p>
        </p:txBody>
      </p:sp>
      <p:sp>
        <p:nvSpPr>
          <p:cNvPr id="12" name="Rectangle 11"/>
          <p:cNvSpPr/>
          <p:nvPr/>
        </p:nvSpPr>
        <p:spPr>
          <a:xfrm>
            <a:off x="969264" y="3044952"/>
            <a:ext cx="2014651" cy="10058"/>
          </a:xfrm>
          <a:prstGeom prst="rect">
            <a:avLst/>
          </a:prstGeom>
          <a:solidFill>
            <a:srgbClr val="2A3441"/>
          </a:solidFill>
          <a:ln>
            <a:noFill/>
          </a:ln>
          <a:effectLst/>
        </p:spPr>
        <p:txBody>
          <a:bodyPr rtlCol="0" anchor="ctr"/>
          <a:lstStyle/>
          <a:p/>
        </p:txBody>
      </p:sp>
      <p:sp>
        <p:nvSpPr>
          <p:cNvPr id="13" name="TextBox 12"/>
          <p:cNvSpPr txBox="1"/>
          <p:nvPr/>
        </p:nvSpPr>
        <p:spPr>
          <a:xfrm>
            <a:off x="969264" y="3200400"/>
            <a:ext cx="2014651" cy="1280160"/>
          </a:xfrm>
          <a:prstGeom prst="rect">
            <a:avLst/>
          </a:prstGeom>
          <a:noFill/>
        </p:spPr>
        <p:txBody>
          <a:bodyPr wrap="square" lIns="0" rIns="0" tIns="0" bIns="0" anchor="t">
            <a:spAutoFit/>
          </a:bodyPr>
          <a:lstStyle/>
          <a:p>
            <a:pPr algn="l">
              <a:lnSpc>
                <a:spcPct val="130000"/>
              </a:lnSpc>
            </a:pPr>
            <a:r>
              <a:rPr sz="1200" b="0" i="0">
                <a:solidFill>
                  <a:srgbClr val="93A1B0"/>
                </a:solidFill>
                <a:latin typeface="Segoe UI"/>
              </a:rPr>
              <a:t>Four-button Bisaya SOS grid. Pressing a button logs the exact mesh payload.</a:t>
            </a:r>
          </a:p>
        </p:txBody>
      </p:sp>
      <p:sp>
        <p:nvSpPr>
          <p:cNvPr id="14" name="Rectangle 13"/>
          <p:cNvSpPr/>
          <p:nvPr/>
        </p:nvSpPr>
        <p:spPr>
          <a:xfrm>
            <a:off x="3477691" y="1783080"/>
            <a:ext cx="2490139" cy="2697480"/>
          </a:xfrm>
          <a:prstGeom prst="rect">
            <a:avLst/>
          </a:prstGeom>
          <a:solidFill>
            <a:srgbClr val="12181F"/>
          </a:solidFill>
          <a:ln w="12700">
            <a:solidFill>
              <a:srgbClr val="2A3441"/>
            </a:solidFill>
          </a:ln>
          <a:effectLst/>
        </p:spPr>
        <p:txBody>
          <a:bodyPr rtlCol="0" anchor="ctr"/>
          <a:lstStyle/>
          <a:p/>
        </p:txBody>
      </p:sp>
      <p:sp>
        <p:nvSpPr>
          <p:cNvPr id="15" name="Rectangle 14"/>
          <p:cNvSpPr/>
          <p:nvPr/>
        </p:nvSpPr>
        <p:spPr>
          <a:xfrm>
            <a:off x="3477691" y="1783080"/>
            <a:ext cx="2490139" cy="45720"/>
          </a:xfrm>
          <a:prstGeom prst="rect">
            <a:avLst/>
          </a:prstGeom>
          <a:solidFill>
            <a:srgbClr val="4CC2FF"/>
          </a:solidFill>
          <a:ln>
            <a:noFill/>
          </a:ln>
          <a:effectLst/>
        </p:spPr>
        <p:txBody>
          <a:bodyPr rtlCol="0" anchor="ctr"/>
          <a:lstStyle/>
          <a:p/>
        </p:txBody>
      </p:sp>
      <p:sp>
        <p:nvSpPr>
          <p:cNvPr id="16" name="TextBox 15"/>
          <p:cNvSpPr txBox="1"/>
          <p:nvPr/>
        </p:nvSpPr>
        <p:spPr>
          <a:xfrm>
            <a:off x="3715435" y="2093976"/>
            <a:ext cx="2014651" cy="566928"/>
          </a:xfrm>
          <a:prstGeom prst="rect">
            <a:avLst/>
          </a:prstGeom>
          <a:noFill/>
        </p:spPr>
        <p:txBody>
          <a:bodyPr wrap="square" lIns="0" rIns="0" tIns="0" bIns="0" anchor="t">
            <a:spAutoFit/>
          </a:bodyPr>
          <a:lstStyle/>
          <a:p>
            <a:pPr algn="l">
              <a:lnSpc>
                <a:spcPct val="110000"/>
              </a:lnSpc>
            </a:pPr>
            <a:r>
              <a:rPr sz="1550" b="1" i="0">
                <a:solidFill>
                  <a:srgbClr val="F2F5F8"/>
                </a:solidFill>
                <a:latin typeface="Segoe UI"/>
              </a:rPr>
              <a:t>Responder Console</a:t>
            </a:r>
          </a:p>
        </p:txBody>
      </p:sp>
      <p:sp>
        <p:nvSpPr>
          <p:cNvPr id="17" name="TextBox 16"/>
          <p:cNvSpPr txBox="1"/>
          <p:nvPr/>
        </p:nvSpPr>
        <p:spPr>
          <a:xfrm>
            <a:off x="3715435" y="2697480"/>
            <a:ext cx="2014651" cy="274320"/>
          </a:xfrm>
          <a:prstGeom prst="rect">
            <a:avLst/>
          </a:prstGeom>
          <a:noFill/>
        </p:spPr>
        <p:txBody>
          <a:bodyPr wrap="square" lIns="0" rIns="0" tIns="0" bIns="0" anchor="t">
            <a:spAutoFit/>
          </a:bodyPr>
          <a:lstStyle/>
          <a:p>
            <a:pPr algn="l"/>
            <a:r>
              <a:rPr sz="950" b="0" i="0">
                <a:solidFill>
                  <a:srgbClr val="4CC2FF"/>
                </a:solidFill>
                <a:latin typeface="Consolas"/>
              </a:rPr>
              <a:t>apps/web</a:t>
            </a:r>
          </a:p>
        </p:txBody>
      </p:sp>
      <p:sp>
        <p:nvSpPr>
          <p:cNvPr id="18" name="Rectangle 17"/>
          <p:cNvSpPr/>
          <p:nvPr/>
        </p:nvSpPr>
        <p:spPr>
          <a:xfrm>
            <a:off x="3715435" y="3044952"/>
            <a:ext cx="2014651" cy="10058"/>
          </a:xfrm>
          <a:prstGeom prst="rect">
            <a:avLst/>
          </a:prstGeom>
          <a:solidFill>
            <a:srgbClr val="2A3441"/>
          </a:solidFill>
          <a:ln>
            <a:noFill/>
          </a:ln>
          <a:effectLst/>
        </p:spPr>
        <p:txBody>
          <a:bodyPr rtlCol="0" anchor="ctr"/>
          <a:lstStyle/>
          <a:p/>
        </p:txBody>
      </p:sp>
      <p:sp>
        <p:nvSpPr>
          <p:cNvPr id="19" name="TextBox 18"/>
          <p:cNvSpPr txBox="1"/>
          <p:nvPr/>
        </p:nvSpPr>
        <p:spPr>
          <a:xfrm>
            <a:off x="3715435" y="3200400"/>
            <a:ext cx="2014651" cy="1280160"/>
          </a:xfrm>
          <a:prstGeom prst="rect">
            <a:avLst/>
          </a:prstGeom>
          <a:noFill/>
        </p:spPr>
        <p:txBody>
          <a:bodyPr wrap="square" lIns="0" rIns="0" tIns="0" bIns="0" anchor="t">
            <a:spAutoFit/>
          </a:bodyPr>
          <a:lstStyle/>
          <a:p>
            <a:pPr algn="l">
              <a:lnSpc>
                <a:spcPct val="130000"/>
              </a:lnSpc>
            </a:pPr>
            <a:r>
              <a:rPr sz="1200" b="0" i="0">
                <a:solidFill>
                  <a:srgbClr val="93A1B0"/>
                </a:solidFill>
                <a:latin typeface="Segoe UI"/>
              </a:rPr>
              <a:t>Live MapLibre map, incoming queue, and a routing panel with the decoded payload.</a:t>
            </a:r>
          </a:p>
        </p:txBody>
      </p:sp>
      <p:sp>
        <p:nvSpPr>
          <p:cNvPr id="20" name="Rectangle 19"/>
          <p:cNvSpPr/>
          <p:nvPr/>
        </p:nvSpPr>
        <p:spPr>
          <a:xfrm>
            <a:off x="6223863" y="1783080"/>
            <a:ext cx="2490139" cy="2697480"/>
          </a:xfrm>
          <a:prstGeom prst="rect">
            <a:avLst/>
          </a:prstGeom>
          <a:solidFill>
            <a:srgbClr val="12181F"/>
          </a:solidFill>
          <a:ln w="12700">
            <a:solidFill>
              <a:srgbClr val="2A3441"/>
            </a:solidFill>
          </a:ln>
          <a:effectLst/>
        </p:spPr>
        <p:txBody>
          <a:bodyPr rtlCol="0" anchor="ctr"/>
          <a:lstStyle/>
          <a:p/>
        </p:txBody>
      </p:sp>
      <p:sp>
        <p:nvSpPr>
          <p:cNvPr id="21" name="Rectangle 20"/>
          <p:cNvSpPr/>
          <p:nvPr/>
        </p:nvSpPr>
        <p:spPr>
          <a:xfrm>
            <a:off x="6223863" y="1783080"/>
            <a:ext cx="2490139" cy="45720"/>
          </a:xfrm>
          <a:prstGeom prst="rect">
            <a:avLst/>
          </a:prstGeom>
          <a:solidFill>
            <a:srgbClr val="FFC53D"/>
          </a:solidFill>
          <a:ln>
            <a:noFill/>
          </a:ln>
          <a:effectLst/>
        </p:spPr>
        <p:txBody>
          <a:bodyPr rtlCol="0" anchor="ctr"/>
          <a:lstStyle/>
          <a:p/>
        </p:txBody>
      </p:sp>
      <p:sp>
        <p:nvSpPr>
          <p:cNvPr id="22" name="TextBox 21"/>
          <p:cNvSpPr txBox="1"/>
          <p:nvPr/>
        </p:nvSpPr>
        <p:spPr>
          <a:xfrm>
            <a:off x="6461607" y="2093976"/>
            <a:ext cx="2014651" cy="566928"/>
          </a:xfrm>
          <a:prstGeom prst="rect">
            <a:avLst/>
          </a:prstGeom>
          <a:noFill/>
        </p:spPr>
        <p:txBody>
          <a:bodyPr wrap="square" lIns="0" rIns="0" tIns="0" bIns="0" anchor="t">
            <a:spAutoFit/>
          </a:bodyPr>
          <a:lstStyle/>
          <a:p>
            <a:pPr algn="l">
              <a:lnSpc>
                <a:spcPct val="110000"/>
              </a:lnSpc>
            </a:pPr>
            <a:r>
              <a:rPr sz="1550" b="1" i="0">
                <a:solidFill>
                  <a:srgbClr val="F2F5F8"/>
                </a:solidFill>
                <a:latin typeface="Segoe UI"/>
              </a:rPr>
              <a:t>Shared Core</a:t>
            </a:r>
          </a:p>
        </p:txBody>
      </p:sp>
      <p:sp>
        <p:nvSpPr>
          <p:cNvPr id="23" name="TextBox 22"/>
          <p:cNvSpPr txBox="1"/>
          <p:nvPr/>
        </p:nvSpPr>
        <p:spPr>
          <a:xfrm>
            <a:off x="6461607" y="2697480"/>
            <a:ext cx="2014651" cy="274320"/>
          </a:xfrm>
          <a:prstGeom prst="rect">
            <a:avLst/>
          </a:prstGeom>
          <a:noFill/>
        </p:spPr>
        <p:txBody>
          <a:bodyPr wrap="square" lIns="0" rIns="0" tIns="0" bIns="0" anchor="t">
            <a:spAutoFit/>
          </a:bodyPr>
          <a:lstStyle/>
          <a:p>
            <a:pPr algn="l"/>
            <a:r>
              <a:rPr sz="950" b="0" i="0">
                <a:solidFill>
                  <a:srgbClr val="FFC53D"/>
                </a:solidFill>
                <a:latin typeface="Consolas"/>
              </a:rPr>
              <a:t>packages/ui</a:t>
            </a:r>
          </a:p>
        </p:txBody>
      </p:sp>
      <p:sp>
        <p:nvSpPr>
          <p:cNvPr id="24" name="Rectangle 23"/>
          <p:cNvSpPr/>
          <p:nvPr/>
        </p:nvSpPr>
        <p:spPr>
          <a:xfrm>
            <a:off x="6461607" y="3044952"/>
            <a:ext cx="2014651" cy="10058"/>
          </a:xfrm>
          <a:prstGeom prst="rect">
            <a:avLst/>
          </a:prstGeom>
          <a:solidFill>
            <a:srgbClr val="2A3441"/>
          </a:solidFill>
          <a:ln>
            <a:noFill/>
          </a:ln>
          <a:effectLst/>
        </p:spPr>
        <p:txBody>
          <a:bodyPr rtlCol="0" anchor="ctr"/>
          <a:lstStyle/>
          <a:p/>
        </p:txBody>
      </p:sp>
      <p:sp>
        <p:nvSpPr>
          <p:cNvPr id="25" name="TextBox 24"/>
          <p:cNvSpPr txBox="1"/>
          <p:nvPr/>
        </p:nvSpPr>
        <p:spPr>
          <a:xfrm>
            <a:off x="6461607" y="3200400"/>
            <a:ext cx="2014651" cy="1280160"/>
          </a:xfrm>
          <a:prstGeom prst="rect">
            <a:avLst/>
          </a:prstGeom>
          <a:noFill/>
        </p:spPr>
        <p:txBody>
          <a:bodyPr wrap="square" lIns="0" rIns="0" tIns="0" bIns="0" anchor="t">
            <a:spAutoFit/>
          </a:bodyPr>
          <a:lstStyle/>
          <a:p>
            <a:pPr algn="l">
              <a:lnSpc>
                <a:spcPct val="130000"/>
              </a:lnSpc>
            </a:pPr>
            <a:r>
              <a:rPr sz="1200" b="0" i="0">
                <a:solidFill>
                  <a:srgbClr val="93A1B0"/>
                </a:solidFill>
                <a:latin typeface="Segoe UI"/>
              </a:rPr>
              <a:t>Category model and payload build/parse. One source of truth for both apps.</a:t>
            </a:r>
          </a:p>
        </p:txBody>
      </p:sp>
      <p:sp>
        <p:nvSpPr>
          <p:cNvPr id="26" name="Rectangle 25"/>
          <p:cNvSpPr/>
          <p:nvPr/>
        </p:nvSpPr>
        <p:spPr>
          <a:xfrm>
            <a:off x="8970035" y="1783080"/>
            <a:ext cx="2490139" cy="2697480"/>
          </a:xfrm>
          <a:prstGeom prst="rect">
            <a:avLst/>
          </a:prstGeom>
          <a:solidFill>
            <a:srgbClr val="12181F"/>
          </a:solidFill>
          <a:ln w="12700">
            <a:solidFill>
              <a:srgbClr val="2A3441"/>
            </a:solidFill>
          </a:ln>
          <a:effectLst/>
        </p:spPr>
        <p:txBody>
          <a:bodyPr rtlCol="0" anchor="ctr"/>
          <a:lstStyle/>
          <a:p/>
        </p:txBody>
      </p:sp>
      <p:sp>
        <p:nvSpPr>
          <p:cNvPr id="27" name="Rectangle 26"/>
          <p:cNvSpPr/>
          <p:nvPr/>
        </p:nvSpPr>
        <p:spPr>
          <a:xfrm>
            <a:off x="8970035" y="1783080"/>
            <a:ext cx="2490139" cy="45720"/>
          </a:xfrm>
          <a:prstGeom prst="rect">
            <a:avLst/>
          </a:prstGeom>
          <a:solidFill>
            <a:srgbClr val="93A1B0"/>
          </a:solidFill>
          <a:ln>
            <a:noFill/>
          </a:ln>
          <a:effectLst/>
        </p:spPr>
        <p:txBody>
          <a:bodyPr rtlCol="0" anchor="ctr"/>
          <a:lstStyle/>
          <a:p/>
        </p:txBody>
      </p:sp>
      <p:sp>
        <p:nvSpPr>
          <p:cNvPr id="28" name="TextBox 27"/>
          <p:cNvSpPr txBox="1"/>
          <p:nvPr/>
        </p:nvSpPr>
        <p:spPr>
          <a:xfrm>
            <a:off x="9207779" y="2093976"/>
            <a:ext cx="2014651" cy="566928"/>
          </a:xfrm>
          <a:prstGeom prst="rect">
            <a:avLst/>
          </a:prstGeom>
          <a:noFill/>
        </p:spPr>
        <p:txBody>
          <a:bodyPr wrap="square" lIns="0" rIns="0" tIns="0" bIns="0" anchor="t">
            <a:spAutoFit/>
          </a:bodyPr>
          <a:lstStyle/>
          <a:p>
            <a:pPr algn="l">
              <a:lnSpc>
                <a:spcPct val="110000"/>
              </a:lnSpc>
            </a:pPr>
            <a:r>
              <a:rPr sz="1550" b="1" i="0">
                <a:solidFill>
                  <a:srgbClr val="F2F5F8"/>
                </a:solidFill>
                <a:latin typeface="Segoe UI"/>
              </a:rPr>
              <a:t>Persistence</a:t>
            </a:r>
          </a:p>
        </p:txBody>
      </p:sp>
      <p:sp>
        <p:nvSpPr>
          <p:cNvPr id="29" name="TextBox 28"/>
          <p:cNvSpPr txBox="1"/>
          <p:nvPr/>
        </p:nvSpPr>
        <p:spPr>
          <a:xfrm>
            <a:off x="9207779" y="2697480"/>
            <a:ext cx="2014651" cy="274320"/>
          </a:xfrm>
          <a:prstGeom prst="rect">
            <a:avLst/>
          </a:prstGeom>
          <a:noFill/>
        </p:spPr>
        <p:txBody>
          <a:bodyPr wrap="square" lIns="0" rIns="0" tIns="0" bIns="0" anchor="t">
            <a:spAutoFit/>
          </a:bodyPr>
          <a:lstStyle/>
          <a:p>
            <a:pPr algn="l"/>
            <a:r>
              <a:rPr sz="950" b="0" i="0">
                <a:solidFill>
                  <a:srgbClr val="93A1B0"/>
                </a:solidFill>
                <a:latin typeface="Consolas"/>
              </a:rPr>
              <a:t>packages/db</a:t>
            </a:r>
          </a:p>
        </p:txBody>
      </p:sp>
      <p:sp>
        <p:nvSpPr>
          <p:cNvPr id="30" name="Rectangle 29"/>
          <p:cNvSpPr/>
          <p:nvPr/>
        </p:nvSpPr>
        <p:spPr>
          <a:xfrm>
            <a:off x="9207779" y="3044952"/>
            <a:ext cx="2014651" cy="10058"/>
          </a:xfrm>
          <a:prstGeom prst="rect">
            <a:avLst/>
          </a:prstGeom>
          <a:solidFill>
            <a:srgbClr val="2A3441"/>
          </a:solidFill>
          <a:ln>
            <a:noFill/>
          </a:ln>
          <a:effectLst/>
        </p:spPr>
        <p:txBody>
          <a:bodyPr rtlCol="0" anchor="ctr"/>
          <a:lstStyle/>
          <a:p/>
        </p:txBody>
      </p:sp>
      <p:sp>
        <p:nvSpPr>
          <p:cNvPr id="31" name="TextBox 30"/>
          <p:cNvSpPr txBox="1"/>
          <p:nvPr/>
        </p:nvSpPr>
        <p:spPr>
          <a:xfrm>
            <a:off x="9207779" y="3200400"/>
            <a:ext cx="2014651" cy="1280160"/>
          </a:xfrm>
          <a:prstGeom prst="rect">
            <a:avLst/>
          </a:prstGeom>
          <a:noFill/>
        </p:spPr>
        <p:txBody>
          <a:bodyPr wrap="square" lIns="0" rIns="0" tIns="0" bIns="0" anchor="t">
            <a:spAutoFit/>
          </a:bodyPr>
          <a:lstStyle/>
          <a:p>
            <a:pPr algn="l">
              <a:lnSpc>
                <a:spcPct val="130000"/>
              </a:lnSpc>
            </a:pPr>
            <a:r>
              <a:rPr sz="1200" b="0" i="0">
                <a:solidFill>
                  <a:srgbClr val="93A1B0"/>
                </a:solidFill>
                <a:latin typeface="Segoe UI"/>
              </a:rPr>
              <a:t>Prisma + PostgreSQL schema, designed for RBAC. Deliberately not wired up yet.</a:t>
            </a:r>
          </a:p>
        </p:txBody>
      </p:sp>
      <p:sp>
        <p:nvSpPr>
          <p:cNvPr id="32" name="Rectangle 31"/>
          <p:cNvSpPr/>
          <p:nvPr/>
        </p:nvSpPr>
        <p:spPr>
          <a:xfrm>
            <a:off x="731520" y="4892040"/>
            <a:ext cx="10728655" cy="10058"/>
          </a:xfrm>
          <a:prstGeom prst="rect">
            <a:avLst/>
          </a:prstGeom>
          <a:solidFill>
            <a:srgbClr val="2A3441"/>
          </a:solidFill>
          <a:ln>
            <a:noFill/>
          </a:ln>
          <a:effectLst/>
        </p:spPr>
        <p:txBody>
          <a:bodyPr rtlCol="0" anchor="ctr"/>
          <a:lstStyle/>
          <a:p/>
        </p:txBody>
      </p:sp>
      <p:sp>
        <p:nvSpPr>
          <p:cNvPr id="33" name="TextBox 32"/>
          <p:cNvSpPr txBox="1"/>
          <p:nvPr/>
        </p:nvSpPr>
        <p:spPr>
          <a:xfrm>
            <a:off x="731520" y="5074920"/>
            <a:ext cx="4937760" cy="822960"/>
          </a:xfrm>
          <a:prstGeom prst="rect">
            <a:avLst/>
          </a:prstGeom>
          <a:noFill/>
        </p:spPr>
        <p:txBody>
          <a:bodyPr wrap="square" lIns="0" rIns="0" tIns="0" bIns="0" anchor="t">
            <a:spAutoFit/>
          </a:bodyPr>
          <a:lstStyle/>
          <a:p>
            <a:pPr algn="l">
              <a:lnSpc>
                <a:spcPct val="135000"/>
              </a:lnSpc>
            </a:pPr>
            <a:r>
              <a:rPr sz="1250" b="0" i="0">
                <a:solidFill>
                  <a:srgbClr val="93A1B0"/>
                </a:solidFill>
                <a:latin typeface="Segoe UI"/>
              </a:rPr>
              <a:t>Turborepo + pnpm workspaces.</a:t>
            </a:r>
          </a:p>
          <a:p>
            <a:pPr algn="l">
              <a:lnSpc>
                <a:spcPct val="135000"/>
              </a:lnSpc>
            </a:pPr>
            <a:r>
              <a:rPr sz="1250" b="0" i="0">
                <a:solidFill>
                  <a:srgbClr val="93A1B0"/>
                </a:solidFill>
                <a:latin typeface="Segoe UI"/>
              </a:rPr>
              <a:t>Shared design tokens keep both apps visually identical.</a:t>
            </a:r>
          </a:p>
        </p:txBody>
      </p:sp>
      <p:sp>
        <p:nvSpPr>
          <p:cNvPr id="34" name="TextBox 33"/>
          <p:cNvSpPr txBox="1"/>
          <p:nvPr/>
        </p:nvSpPr>
        <p:spPr>
          <a:xfrm>
            <a:off x="6400800" y="5074920"/>
            <a:ext cx="5029200" cy="822960"/>
          </a:xfrm>
          <a:prstGeom prst="rect">
            <a:avLst/>
          </a:prstGeom>
          <a:noFill/>
        </p:spPr>
        <p:txBody>
          <a:bodyPr wrap="square" lIns="0" rIns="0" tIns="0" bIns="0" anchor="t">
            <a:spAutoFit/>
          </a:bodyPr>
          <a:lstStyle/>
          <a:p>
            <a:pPr algn="l">
              <a:lnSpc>
                <a:spcPct val="135000"/>
              </a:lnSpc>
            </a:pPr>
            <a:r>
              <a:rPr sz="1250" b="0" i="0">
                <a:solidFill>
                  <a:srgbClr val="93A1B0"/>
                </a:solidFill>
                <a:latin typeface="Segoe UI"/>
              </a:rPr>
              <a:t>The frontend never blocks on transport.</a:t>
            </a:r>
          </a:p>
          <a:p>
            <a:pPr algn="l">
              <a:lnSpc>
                <a:spcPct val="135000"/>
              </a:lnSpc>
            </a:pPr>
            <a:r>
              <a:rPr sz="1250" b="0" i="0">
                <a:solidFill>
                  <a:srgbClr val="93A1B0"/>
                </a:solidFill>
                <a:latin typeface="Segoe UI"/>
              </a:rPr>
              <a:t>The MVP logs the payload the mesh will later carry.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03  ·  CITIZEN APP</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Open. Tap. Done.</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04 / 14</a:t>
            </a:r>
          </a:p>
        </p:txBody>
      </p:sp>
      <p:sp>
        <p:nvSpPr>
          <p:cNvPr id="8" name="Rectangle 7"/>
          <p:cNvSpPr/>
          <p:nvPr/>
        </p:nvSpPr>
        <p:spPr>
          <a:xfrm>
            <a:off x="731520" y="1783080"/>
            <a:ext cx="3200400" cy="4224528"/>
          </a:xfrm>
          <a:prstGeom prst="rect">
            <a:avLst/>
          </a:prstGeom>
          <a:solidFill>
            <a:srgbClr val="12181F"/>
          </a:solidFill>
          <a:ln w="15875">
            <a:solidFill>
              <a:srgbClr val="2A3441"/>
            </a:solidFill>
          </a:ln>
          <a:effectLst/>
        </p:spPr>
        <p:txBody>
          <a:bodyPr rtlCol="0" anchor="ctr"/>
          <a:lstStyle/>
          <a:p/>
        </p:txBody>
      </p:sp>
      <p:sp>
        <p:nvSpPr>
          <p:cNvPr id="9" name="TextBox 8"/>
          <p:cNvSpPr txBox="1"/>
          <p:nvPr/>
        </p:nvSpPr>
        <p:spPr>
          <a:xfrm>
            <a:off x="932688" y="1965960"/>
            <a:ext cx="1097280" cy="228600"/>
          </a:xfrm>
          <a:prstGeom prst="rect">
            <a:avLst/>
          </a:prstGeom>
          <a:noFill/>
        </p:spPr>
        <p:txBody>
          <a:bodyPr wrap="square" lIns="0" rIns="0" tIns="0" bIns="0" anchor="t">
            <a:spAutoFit/>
          </a:bodyPr>
          <a:lstStyle/>
          <a:p>
            <a:pPr algn="l"/>
            <a:r>
              <a:rPr sz="1050" b="1" i="0" spc="120">
                <a:solidFill>
                  <a:srgbClr val="F2F5F8"/>
                </a:solidFill>
                <a:latin typeface="Segoe UI"/>
              </a:rPr>
              <a:t>AIRA</a:t>
            </a:r>
          </a:p>
        </p:txBody>
      </p:sp>
      <p:sp>
        <p:nvSpPr>
          <p:cNvPr id="10" name="TextBox 9"/>
          <p:cNvSpPr txBox="1"/>
          <p:nvPr/>
        </p:nvSpPr>
        <p:spPr>
          <a:xfrm>
            <a:off x="2450591" y="1975104"/>
            <a:ext cx="1280160" cy="228600"/>
          </a:xfrm>
          <a:prstGeom prst="rect">
            <a:avLst/>
          </a:prstGeom>
          <a:noFill/>
        </p:spPr>
        <p:txBody>
          <a:bodyPr wrap="square" lIns="0" rIns="0" tIns="0" bIns="0" anchor="t">
            <a:spAutoFit/>
          </a:bodyPr>
          <a:lstStyle/>
          <a:p>
            <a:pPr algn="r"/>
            <a:r>
              <a:rPr sz="750" b="0" i="0">
                <a:solidFill>
                  <a:srgbClr val="93A1B0"/>
                </a:solidFill>
                <a:latin typeface="Segoe UI"/>
              </a:rPr>
              <a:t>● MESH: STANDBY</a:t>
            </a:r>
          </a:p>
        </p:txBody>
      </p:sp>
      <p:sp>
        <p:nvSpPr>
          <p:cNvPr id="11" name="Rectangle 10"/>
          <p:cNvSpPr/>
          <p:nvPr/>
        </p:nvSpPr>
        <p:spPr>
          <a:xfrm>
            <a:off x="731520" y="2331720"/>
            <a:ext cx="3200400" cy="10058"/>
          </a:xfrm>
          <a:prstGeom prst="rect">
            <a:avLst/>
          </a:prstGeom>
          <a:solidFill>
            <a:srgbClr val="2A3441"/>
          </a:solidFill>
          <a:ln>
            <a:noFill/>
          </a:ln>
          <a:effectLst/>
        </p:spPr>
        <p:txBody>
          <a:bodyPr rtlCol="0" anchor="ctr"/>
          <a:lstStyle/>
          <a:p/>
        </p:txBody>
      </p:sp>
      <p:sp>
        <p:nvSpPr>
          <p:cNvPr id="12" name="TextBox 11"/>
          <p:cNvSpPr txBox="1"/>
          <p:nvPr/>
        </p:nvSpPr>
        <p:spPr>
          <a:xfrm>
            <a:off x="932688" y="2468880"/>
            <a:ext cx="2834640" cy="228600"/>
          </a:xfrm>
          <a:prstGeom prst="rect">
            <a:avLst/>
          </a:prstGeom>
          <a:noFill/>
        </p:spPr>
        <p:txBody>
          <a:bodyPr wrap="square" lIns="0" rIns="0" tIns="0" bIns="0" anchor="t">
            <a:spAutoFit/>
          </a:bodyPr>
          <a:lstStyle/>
          <a:p>
            <a:pPr algn="l"/>
            <a:r>
              <a:rPr sz="800" b="1" i="0" spc="140">
                <a:solidFill>
                  <a:srgbClr val="93A1B0"/>
                </a:solidFill>
                <a:latin typeface="Segoe UI"/>
              </a:rPr>
              <a:t>PILIA ANG EMERGENCY</a:t>
            </a:r>
          </a:p>
        </p:txBody>
      </p:sp>
      <p:sp>
        <p:nvSpPr>
          <p:cNvPr id="13" name="Rectangle 12"/>
          <p:cNvSpPr/>
          <p:nvPr/>
        </p:nvSpPr>
        <p:spPr>
          <a:xfrm>
            <a:off x="932688" y="2788920"/>
            <a:ext cx="1362456" cy="1078992"/>
          </a:xfrm>
          <a:prstGeom prst="rect">
            <a:avLst/>
          </a:prstGeom>
          <a:noFill/>
          <a:ln w="19050">
            <a:solidFill>
              <a:srgbClr val="FF3B1F"/>
            </a:solidFill>
          </a:ln>
          <a:effectLst/>
        </p:spPr>
        <p:txBody>
          <a:bodyPr rtlCol="0" anchor="ctr"/>
          <a:lstStyle/>
          <a:p/>
        </p:txBody>
      </p:sp>
      <p:sp>
        <p:nvSpPr>
          <p:cNvPr id="14" name="TextBox 13"/>
          <p:cNvSpPr txBox="1"/>
          <p:nvPr/>
        </p:nvSpPr>
        <p:spPr>
          <a:xfrm>
            <a:off x="932688" y="3099815"/>
            <a:ext cx="1362456" cy="365760"/>
          </a:xfrm>
          <a:prstGeom prst="rect">
            <a:avLst/>
          </a:prstGeom>
          <a:noFill/>
        </p:spPr>
        <p:txBody>
          <a:bodyPr wrap="square" lIns="0" rIns="0" tIns="0" bIns="0" anchor="t">
            <a:spAutoFit/>
          </a:bodyPr>
          <a:lstStyle/>
          <a:p>
            <a:pPr algn="ctr"/>
            <a:r>
              <a:rPr sz="1600" b="1" i="0" spc="60">
                <a:solidFill>
                  <a:srgbClr val="FF3B1F"/>
                </a:solidFill>
                <a:latin typeface="Segoe UI"/>
              </a:rPr>
              <a:t>SUNOG</a:t>
            </a:r>
          </a:p>
        </p:txBody>
      </p:sp>
      <p:sp>
        <p:nvSpPr>
          <p:cNvPr id="15" name="TextBox 14"/>
          <p:cNvSpPr txBox="1"/>
          <p:nvPr/>
        </p:nvSpPr>
        <p:spPr>
          <a:xfrm>
            <a:off x="932688" y="3502152"/>
            <a:ext cx="1362456" cy="201168"/>
          </a:xfrm>
          <a:prstGeom prst="rect">
            <a:avLst/>
          </a:prstGeom>
          <a:noFill/>
        </p:spPr>
        <p:txBody>
          <a:bodyPr wrap="square" lIns="0" rIns="0" tIns="0" bIns="0" anchor="t">
            <a:spAutoFit/>
          </a:bodyPr>
          <a:lstStyle/>
          <a:p>
            <a:pPr algn="ctr"/>
            <a:r>
              <a:rPr sz="750" b="0" i="0" spc="100">
                <a:solidFill>
                  <a:srgbClr val="93A1B0"/>
                </a:solidFill>
                <a:latin typeface="Segoe UI"/>
              </a:rPr>
              <a:t>Fire</a:t>
            </a:r>
          </a:p>
        </p:txBody>
      </p:sp>
      <p:sp>
        <p:nvSpPr>
          <p:cNvPr id="16" name="Rectangle 15"/>
          <p:cNvSpPr/>
          <p:nvPr/>
        </p:nvSpPr>
        <p:spPr>
          <a:xfrm>
            <a:off x="2368296" y="2788920"/>
            <a:ext cx="1362456" cy="1078992"/>
          </a:xfrm>
          <a:prstGeom prst="rect">
            <a:avLst/>
          </a:prstGeom>
          <a:noFill/>
          <a:ln w="19050">
            <a:solidFill>
              <a:srgbClr val="00D08A"/>
            </a:solidFill>
          </a:ln>
          <a:effectLst/>
        </p:spPr>
        <p:txBody>
          <a:bodyPr rtlCol="0" anchor="ctr"/>
          <a:lstStyle/>
          <a:p/>
        </p:txBody>
      </p:sp>
      <p:sp>
        <p:nvSpPr>
          <p:cNvPr id="17" name="TextBox 16"/>
          <p:cNvSpPr txBox="1"/>
          <p:nvPr/>
        </p:nvSpPr>
        <p:spPr>
          <a:xfrm>
            <a:off x="2368296" y="3099815"/>
            <a:ext cx="1362456" cy="365760"/>
          </a:xfrm>
          <a:prstGeom prst="rect">
            <a:avLst/>
          </a:prstGeom>
          <a:noFill/>
        </p:spPr>
        <p:txBody>
          <a:bodyPr wrap="square" lIns="0" rIns="0" tIns="0" bIns="0" anchor="t">
            <a:spAutoFit/>
          </a:bodyPr>
          <a:lstStyle/>
          <a:p>
            <a:pPr algn="ctr"/>
            <a:r>
              <a:rPr sz="1600" b="1" i="0" spc="60">
                <a:solidFill>
                  <a:srgbClr val="00D08A"/>
                </a:solidFill>
                <a:latin typeface="Segoe UI"/>
              </a:rPr>
              <a:t>MEDIKAL</a:t>
            </a:r>
          </a:p>
        </p:txBody>
      </p:sp>
      <p:sp>
        <p:nvSpPr>
          <p:cNvPr id="18" name="TextBox 17"/>
          <p:cNvSpPr txBox="1"/>
          <p:nvPr/>
        </p:nvSpPr>
        <p:spPr>
          <a:xfrm>
            <a:off x="2368296" y="3502152"/>
            <a:ext cx="1362456" cy="201168"/>
          </a:xfrm>
          <a:prstGeom prst="rect">
            <a:avLst/>
          </a:prstGeom>
          <a:noFill/>
        </p:spPr>
        <p:txBody>
          <a:bodyPr wrap="square" lIns="0" rIns="0" tIns="0" bIns="0" anchor="t">
            <a:spAutoFit/>
          </a:bodyPr>
          <a:lstStyle/>
          <a:p>
            <a:pPr algn="ctr"/>
            <a:r>
              <a:rPr sz="750" b="0" i="0" spc="100">
                <a:solidFill>
                  <a:srgbClr val="93A1B0"/>
                </a:solidFill>
                <a:latin typeface="Segoe UI"/>
              </a:rPr>
              <a:t>Medical</a:t>
            </a:r>
          </a:p>
        </p:txBody>
      </p:sp>
      <p:sp>
        <p:nvSpPr>
          <p:cNvPr id="19" name="Rectangle 18"/>
          <p:cNvSpPr/>
          <p:nvPr/>
        </p:nvSpPr>
        <p:spPr>
          <a:xfrm>
            <a:off x="932688" y="3941063"/>
            <a:ext cx="1362456" cy="1078992"/>
          </a:xfrm>
          <a:prstGeom prst="rect">
            <a:avLst/>
          </a:prstGeom>
          <a:noFill/>
          <a:ln w="19050">
            <a:solidFill>
              <a:srgbClr val="FFC53D"/>
            </a:solidFill>
          </a:ln>
          <a:effectLst/>
        </p:spPr>
        <p:txBody>
          <a:bodyPr rtlCol="0" anchor="ctr"/>
          <a:lstStyle/>
          <a:p/>
        </p:txBody>
      </p:sp>
      <p:sp>
        <p:nvSpPr>
          <p:cNvPr id="20" name="TextBox 19"/>
          <p:cNvSpPr txBox="1"/>
          <p:nvPr/>
        </p:nvSpPr>
        <p:spPr>
          <a:xfrm>
            <a:off x="932688" y="4251959"/>
            <a:ext cx="1362456" cy="365760"/>
          </a:xfrm>
          <a:prstGeom prst="rect">
            <a:avLst/>
          </a:prstGeom>
          <a:noFill/>
        </p:spPr>
        <p:txBody>
          <a:bodyPr wrap="square" lIns="0" rIns="0" tIns="0" bIns="0" anchor="t">
            <a:spAutoFit/>
          </a:bodyPr>
          <a:lstStyle/>
          <a:p>
            <a:pPr algn="ctr"/>
            <a:r>
              <a:rPr sz="1600" b="1" i="0" spc="60">
                <a:solidFill>
                  <a:srgbClr val="FFC53D"/>
                </a:solidFill>
                <a:latin typeface="Segoe UI"/>
              </a:rPr>
              <a:t>KRIMEN</a:t>
            </a:r>
          </a:p>
        </p:txBody>
      </p:sp>
      <p:sp>
        <p:nvSpPr>
          <p:cNvPr id="21" name="TextBox 20"/>
          <p:cNvSpPr txBox="1"/>
          <p:nvPr/>
        </p:nvSpPr>
        <p:spPr>
          <a:xfrm>
            <a:off x="932688" y="4654296"/>
            <a:ext cx="1362456" cy="201168"/>
          </a:xfrm>
          <a:prstGeom prst="rect">
            <a:avLst/>
          </a:prstGeom>
          <a:noFill/>
        </p:spPr>
        <p:txBody>
          <a:bodyPr wrap="square" lIns="0" rIns="0" tIns="0" bIns="0" anchor="t">
            <a:spAutoFit/>
          </a:bodyPr>
          <a:lstStyle/>
          <a:p>
            <a:pPr algn="ctr"/>
            <a:r>
              <a:rPr sz="750" b="0" i="0" spc="100">
                <a:solidFill>
                  <a:srgbClr val="93A1B0"/>
                </a:solidFill>
                <a:latin typeface="Segoe UI"/>
              </a:rPr>
              <a:t>Crime</a:t>
            </a:r>
          </a:p>
        </p:txBody>
      </p:sp>
      <p:sp>
        <p:nvSpPr>
          <p:cNvPr id="22" name="Rectangle 21"/>
          <p:cNvSpPr/>
          <p:nvPr/>
        </p:nvSpPr>
        <p:spPr>
          <a:xfrm>
            <a:off x="2368296" y="3941063"/>
            <a:ext cx="1362456" cy="1078992"/>
          </a:xfrm>
          <a:prstGeom prst="rect">
            <a:avLst/>
          </a:prstGeom>
          <a:noFill/>
          <a:ln w="19050">
            <a:solidFill>
              <a:srgbClr val="4CC2FF"/>
            </a:solidFill>
          </a:ln>
          <a:effectLst/>
        </p:spPr>
        <p:txBody>
          <a:bodyPr rtlCol="0" anchor="ctr"/>
          <a:lstStyle/>
          <a:p/>
        </p:txBody>
      </p:sp>
      <p:sp>
        <p:nvSpPr>
          <p:cNvPr id="23" name="TextBox 22"/>
          <p:cNvSpPr txBox="1"/>
          <p:nvPr/>
        </p:nvSpPr>
        <p:spPr>
          <a:xfrm>
            <a:off x="2368296" y="4251959"/>
            <a:ext cx="1362456" cy="365760"/>
          </a:xfrm>
          <a:prstGeom prst="rect">
            <a:avLst/>
          </a:prstGeom>
          <a:noFill/>
        </p:spPr>
        <p:txBody>
          <a:bodyPr wrap="square" lIns="0" rIns="0" tIns="0" bIns="0" anchor="t">
            <a:spAutoFit/>
          </a:bodyPr>
          <a:lstStyle/>
          <a:p>
            <a:pPr algn="ctr"/>
            <a:r>
              <a:rPr sz="1600" b="1" i="0" spc="60">
                <a:solidFill>
                  <a:srgbClr val="4CC2FF"/>
                </a:solidFill>
                <a:latin typeface="Segoe UI"/>
              </a:rPr>
              <a:t>BAHA</a:t>
            </a:r>
          </a:p>
        </p:txBody>
      </p:sp>
      <p:sp>
        <p:nvSpPr>
          <p:cNvPr id="24" name="TextBox 23"/>
          <p:cNvSpPr txBox="1"/>
          <p:nvPr/>
        </p:nvSpPr>
        <p:spPr>
          <a:xfrm>
            <a:off x="2368296" y="4654296"/>
            <a:ext cx="1362456" cy="201168"/>
          </a:xfrm>
          <a:prstGeom prst="rect">
            <a:avLst/>
          </a:prstGeom>
          <a:noFill/>
        </p:spPr>
        <p:txBody>
          <a:bodyPr wrap="square" lIns="0" rIns="0" tIns="0" bIns="0" anchor="t">
            <a:spAutoFit/>
          </a:bodyPr>
          <a:lstStyle/>
          <a:p>
            <a:pPr algn="ctr"/>
            <a:r>
              <a:rPr sz="750" b="0" i="0" spc="100">
                <a:solidFill>
                  <a:srgbClr val="93A1B0"/>
                </a:solidFill>
                <a:latin typeface="Segoe UI"/>
              </a:rPr>
              <a:t>Flood</a:t>
            </a:r>
          </a:p>
        </p:txBody>
      </p:sp>
      <p:sp>
        <p:nvSpPr>
          <p:cNvPr id="25" name="TextBox 24"/>
          <p:cNvSpPr txBox="1"/>
          <p:nvPr/>
        </p:nvSpPr>
        <p:spPr>
          <a:xfrm>
            <a:off x="932688" y="5129784"/>
            <a:ext cx="2798064" cy="201168"/>
          </a:xfrm>
          <a:prstGeom prst="rect">
            <a:avLst/>
          </a:prstGeom>
          <a:noFill/>
        </p:spPr>
        <p:txBody>
          <a:bodyPr wrap="square" lIns="0" rIns="0" tIns="0" bIns="0" anchor="t">
            <a:spAutoFit/>
          </a:bodyPr>
          <a:lstStyle/>
          <a:p>
            <a:pPr algn="l"/>
            <a:r>
              <a:rPr sz="700" b="1" i="0" spc="120">
                <a:solidFill>
                  <a:srgbClr val="93A1B0"/>
                </a:solidFill>
                <a:latin typeface="Segoe UI"/>
              </a:rPr>
              <a:t>LAST TRANSMISSION</a:t>
            </a:r>
          </a:p>
        </p:txBody>
      </p:sp>
      <p:sp>
        <p:nvSpPr>
          <p:cNvPr id="26" name="TextBox 25"/>
          <p:cNvSpPr txBox="1"/>
          <p:nvPr/>
        </p:nvSpPr>
        <p:spPr>
          <a:xfrm>
            <a:off x="932688" y="5349240"/>
            <a:ext cx="2798064" cy="365760"/>
          </a:xfrm>
          <a:prstGeom prst="rect">
            <a:avLst/>
          </a:prstGeom>
          <a:noFill/>
        </p:spPr>
        <p:txBody>
          <a:bodyPr wrap="square" lIns="0" rIns="0" tIns="0" bIns="0" anchor="t">
            <a:spAutoFit/>
          </a:bodyPr>
          <a:lstStyle/>
          <a:p>
            <a:pPr algn="l"/>
            <a:r>
              <a:rPr sz="850" b="0" i="0">
                <a:solidFill>
                  <a:srgbClr val="F2F5F8"/>
                </a:solidFill>
                <a:latin typeface="Consolas"/>
              </a:rPr>
              <a:t>["SUNOG",10.3157,123.8854]</a:t>
            </a:r>
          </a:p>
        </p:txBody>
      </p:sp>
      <p:sp>
        <p:nvSpPr>
          <p:cNvPr id="27" name="TextBox 26"/>
          <p:cNvSpPr txBox="1"/>
          <p:nvPr/>
        </p:nvSpPr>
        <p:spPr>
          <a:xfrm>
            <a:off x="4434840" y="1801368"/>
            <a:ext cx="2286000" cy="658368"/>
          </a:xfrm>
          <a:prstGeom prst="rect">
            <a:avLst/>
          </a:prstGeom>
          <a:noFill/>
        </p:spPr>
        <p:txBody>
          <a:bodyPr wrap="square" lIns="0" rIns="0" tIns="0" bIns="0" anchor="t">
            <a:spAutoFit/>
          </a:bodyPr>
          <a:lstStyle/>
          <a:p>
            <a:pPr algn="l"/>
            <a:r>
              <a:rPr sz="3400" b="1" i="0">
                <a:solidFill>
                  <a:srgbClr val="F2F5F8"/>
                </a:solidFill>
                <a:latin typeface="Segoe UI"/>
              </a:rPr>
              <a:t>≤ 2</a:t>
            </a:r>
          </a:p>
        </p:txBody>
      </p:sp>
      <p:sp>
        <p:nvSpPr>
          <p:cNvPr id="28" name="TextBox 27"/>
          <p:cNvSpPr txBox="1"/>
          <p:nvPr/>
        </p:nvSpPr>
        <p:spPr>
          <a:xfrm>
            <a:off x="4434840" y="2496312"/>
            <a:ext cx="2286000" cy="274320"/>
          </a:xfrm>
          <a:prstGeom prst="rect">
            <a:avLst/>
          </a:prstGeom>
          <a:noFill/>
        </p:spPr>
        <p:txBody>
          <a:bodyPr wrap="square" lIns="0" rIns="0" tIns="0" bIns="0" anchor="t">
            <a:spAutoFit/>
          </a:bodyPr>
          <a:lstStyle/>
          <a:p>
            <a:pPr algn="l"/>
            <a:r>
              <a:rPr sz="1050" b="0" i="0">
                <a:solidFill>
                  <a:srgbClr val="93A1B0"/>
                </a:solidFill>
                <a:latin typeface="Segoe UI"/>
              </a:rPr>
              <a:t>taps to alert</a:t>
            </a:r>
          </a:p>
        </p:txBody>
      </p:sp>
      <p:sp>
        <p:nvSpPr>
          <p:cNvPr id="29" name="TextBox 28"/>
          <p:cNvSpPr txBox="1"/>
          <p:nvPr/>
        </p:nvSpPr>
        <p:spPr>
          <a:xfrm>
            <a:off x="6922008" y="1801368"/>
            <a:ext cx="2286000" cy="658368"/>
          </a:xfrm>
          <a:prstGeom prst="rect">
            <a:avLst/>
          </a:prstGeom>
          <a:noFill/>
        </p:spPr>
        <p:txBody>
          <a:bodyPr wrap="square" lIns="0" rIns="0" tIns="0" bIns="0" anchor="t">
            <a:spAutoFit/>
          </a:bodyPr>
          <a:lstStyle/>
          <a:p>
            <a:pPr algn="l"/>
            <a:r>
              <a:rPr sz="3400" b="1" i="0">
                <a:solidFill>
                  <a:srgbClr val="F2F5F8"/>
                </a:solidFill>
                <a:latin typeface="Segoe UI"/>
              </a:rPr>
              <a:t>≤ 1 s</a:t>
            </a:r>
          </a:p>
        </p:txBody>
      </p:sp>
      <p:sp>
        <p:nvSpPr>
          <p:cNvPr id="30" name="TextBox 29"/>
          <p:cNvSpPr txBox="1"/>
          <p:nvPr/>
        </p:nvSpPr>
        <p:spPr>
          <a:xfrm>
            <a:off x="6922008" y="2496312"/>
            <a:ext cx="2286000" cy="274320"/>
          </a:xfrm>
          <a:prstGeom prst="rect">
            <a:avLst/>
          </a:prstGeom>
          <a:noFill/>
        </p:spPr>
        <p:txBody>
          <a:bodyPr wrap="square" lIns="0" rIns="0" tIns="0" bIns="0" anchor="t">
            <a:spAutoFit/>
          </a:bodyPr>
          <a:lstStyle/>
          <a:p>
            <a:pPr algn="l"/>
            <a:r>
              <a:rPr sz="1050" b="0" i="0">
                <a:solidFill>
                  <a:srgbClr val="93A1B0"/>
                </a:solidFill>
                <a:latin typeface="Segoe UI"/>
              </a:rPr>
              <a:t>from press to payload</a:t>
            </a:r>
          </a:p>
        </p:txBody>
      </p:sp>
      <p:sp>
        <p:nvSpPr>
          <p:cNvPr id="31" name="TextBox 30"/>
          <p:cNvSpPr txBox="1"/>
          <p:nvPr/>
        </p:nvSpPr>
        <p:spPr>
          <a:xfrm>
            <a:off x="9409176" y="1801368"/>
            <a:ext cx="2286000" cy="658368"/>
          </a:xfrm>
          <a:prstGeom prst="rect">
            <a:avLst/>
          </a:prstGeom>
          <a:noFill/>
        </p:spPr>
        <p:txBody>
          <a:bodyPr wrap="square" lIns="0" rIns="0" tIns="0" bIns="0" anchor="t">
            <a:spAutoFit/>
          </a:bodyPr>
          <a:lstStyle/>
          <a:p>
            <a:pPr algn="l"/>
            <a:r>
              <a:rPr sz="3400" b="1" i="0">
                <a:solidFill>
                  <a:srgbClr val="F2F5F8"/>
                </a:solidFill>
                <a:latin typeface="Segoe UI"/>
              </a:rPr>
              <a:t>0</a:t>
            </a:r>
          </a:p>
        </p:txBody>
      </p:sp>
      <p:sp>
        <p:nvSpPr>
          <p:cNvPr id="32" name="TextBox 31"/>
          <p:cNvSpPr txBox="1"/>
          <p:nvPr/>
        </p:nvSpPr>
        <p:spPr>
          <a:xfrm>
            <a:off x="9409176" y="2496312"/>
            <a:ext cx="2286000" cy="274320"/>
          </a:xfrm>
          <a:prstGeom prst="rect">
            <a:avLst/>
          </a:prstGeom>
          <a:noFill/>
        </p:spPr>
        <p:txBody>
          <a:bodyPr wrap="square" lIns="0" rIns="0" tIns="0" bIns="0" anchor="t">
            <a:spAutoFit/>
          </a:bodyPr>
          <a:lstStyle/>
          <a:p>
            <a:pPr algn="l"/>
            <a:r>
              <a:rPr sz="1050" b="0" i="0">
                <a:solidFill>
                  <a:srgbClr val="93A1B0"/>
                </a:solidFill>
                <a:latin typeface="Segoe UI"/>
              </a:rPr>
              <a:t>reading required</a:t>
            </a:r>
          </a:p>
        </p:txBody>
      </p:sp>
      <p:sp>
        <p:nvSpPr>
          <p:cNvPr id="33" name="TextBox 32"/>
          <p:cNvSpPr txBox="1"/>
          <p:nvPr/>
        </p:nvSpPr>
        <p:spPr>
          <a:xfrm>
            <a:off x="4434840" y="3108960"/>
            <a:ext cx="7025335" cy="2743200"/>
          </a:xfrm>
          <a:prstGeom prst="rect">
            <a:avLst/>
          </a:prstGeom>
          <a:noFill/>
        </p:spPr>
        <p:txBody>
          <a:bodyPr wrap="square" lIns="0" rIns="0" tIns="0" bIns="0">
            <a:spAutoFit/>
          </a:bodyPr>
          <a:lstStyle/>
          <a:p>
            <a:pPr marL="256032" indent="-256032">
              <a:lnSpc>
                <a:spcPct val="128000"/>
              </a:lnSpc>
              <a:spcAft>
                <a:spcPts val="1300"/>
              </a:spcAft>
              <a:buClr>
                <a:srgbClr val="4C5A6A"/>
              </a:buClr>
              <a:buFont typeface="Arial"/>
              <a:buChar char="—"/>
            </a:pPr>
            <a:r>
              <a:rPr sz="1300">
                <a:solidFill>
                  <a:srgbClr val="F2F5F8"/>
                </a:solidFill>
                <a:latin typeface="Segoe UI"/>
              </a:rPr>
              <a:t>One giant tap target per category — roughly half the screen each, ≥140×140 dp.</a:t>
            </a:r>
          </a:p>
          <a:p>
            <a:pPr marL="256032" indent="-256032">
              <a:lnSpc>
                <a:spcPct val="128000"/>
              </a:lnSpc>
              <a:spcAft>
                <a:spcPts val="1300"/>
              </a:spcAft>
              <a:buClr>
                <a:srgbClr val="4C5A6A"/>
              </a:buClr>
              <a:buFont typeface="Arial"/>
              <a:buChar char="—"/>
            </a:pPr>
            <a:r>
              <a:rPr sz="1300">
                <a:solidFill>
                  <a:srgbClr val="F2F5F8"/>
                </a:solidFill>
                <a:latin typeface="Segoe UI"/>
              </a:rPr>
              <a:t>The Bisaya word is the largest element on the cell; English is a small uppercase hint.</a:t>
            </a:r>
          </a:p>
          <a:p>
            <a:pPr marL="256032" indent="-256032">
              <a:lnSpc>
                <a:spcPct val="128000"/>
              </a:lnSpc>
              <a:spcAft>
                <a:spcPts val="1300"/>
              </a:spcAft>
              <a:buClr>
                <a:srgbClr val="4C5A6A"/>
              </a:buClr>
              <a:buFont typeface="Arial"/>
              <a:buChar char="—"/>
            </a:pPr>
            <a:r>
              <a:rPr sz="1300">
                <a:solidFill>
                  <a:srgbClr val="F2F5F8"/>
                </a:solidFill>
                <a:latin typeface="Segoe UI"/>
              </a:rPr>
              <a:t>No login, no onboarding, no menu. The app opens on the grid.</a:t>
            </a:r>
          </a:p>
          <a:p>
            <a:pPr marL="256032" indent="-256032">
              <a:lnSpc>
                <a:spcPct val="128000"/>
              </a:lnSpc>
              <a:spcAft>
                <a:spcPts val="1300"/>
              </a:spcAft>
              <a:buClr>
                <a:srgbClr val="4C5A6A"/>
              </a:buClr>
              <a:buFont typeface="Arial"/>
              <a:buChar char="—"/>
            </a:pPr>
            <a:r>
              <a:rPr sz="1300">
                <a:solidFill>
                  <a:srgbClr val="F2F5F8"/>
                </a:solidFill>
                <a:latin typeface="Segoe UI"/>
              </a:rPr>
              <a:t>A press logs exactly the payload the mesh layer will later transmit.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04  ·  CATEGORY MODEL</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Four words. A closed set.</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05 / 14</a:t>
            </a:r>
          </a:p>
        </p:txBody>
      </p:sp>
      <p:sp>
        <p:nvSpPr>
          <p:cNvPr id="8" name="TextBox 7"/>
          <p:cNvSpPr txBox="1"/>
          <p:nvPr/>
        </p:nvSpPr>
        <p:spPr>
          <a:xfrm>
            <a:off x="749808" y="1581911"/>
            <a:ext cx="2743200" cy="219456"/>
          </a:xfrm>
          <a:prstGeom prst="rect">
            <a:avLst/>
          </a:prstGeom>
          <a:noFill/>
        </p:spPr>
        <p:txBody>
          <a:bodyPr wrap="square" lIns="0" rIns="0" tIns="0" bIns="0" anchor="t">
            <a:spAutoFit/>
          </a:bodyPr>
          <a:lstStyle/>
          <a:p>
            <a:pPr algn="l"/>
            <a:r>
              <a:rPr sz="800" b="1" i="0" spc="140">
                <a:solidFill>
                  <a:srgbClr val="93A1B0"/>
                </a:solidFill>
                <a:latin typeface="Segoe UI"/>
              </a:rPr>
              <a:t>PAYLOAD ID / BISAYA</a:t>
            </a:r>
          </a:p>
        </p:txBody>
      </p:sp>
      <p:sp>
        <p:nvSpPr>
          <p:cNvPr id="9" name="TextBox 8"/>
          <p:cNvSpPr txBox="1"/>
          <p:nvPr/>
        </p:nvSpPr>
        <p:spPr>
          <a:xfrm>
            <a:off x="3749039" y="1581911"/>
            <a:ext cx="1828800" cy="219456"/>
          </a:xfrm>
          <a:prstGeom prst="rect">
            <a:avLst/>
          </a:prstGeom>
          <a:noFill/>
        </p:spPr>
        <p:txBody>
          <a:bodyPr wrap="square" lIns="0" rIns="0" tIns="0" bIns="0" anchor="t">
            <a:spAutoFit/>
          </a:bodyPr>
          <a:lstStyle/>
          <a:p>
            <a:pPr algn="l"/>
            <a:r>
              <a:rPr sz="800" b="1" i="0" spc="140">
                <a:solidFill>
                  <a:srgbClr val="93A1B0"/>
                </a:solidFill>
                <a:latin typeface="Segoe UI"/>
              </a:rPr>
              <a:t>ENGLISH</a:t>
            </a:r>
          </a:p>
        </p:txBody>
      </p:sp>
      <p:sp>
        <p:nvSpPr>
          <p:cNvPr id="10" name="TextBox 9"/>
          <p:cNvSpPr txBox="1"/>
          <p:nvPr/>
        </p:nvSpPr>
        <p:spPr>
          <a:xfrm>
            <a:off x="5669280" y="1581911"/>
            <a:ext cx="3291840" cy="219456"/>
          </a:xfrm>
          <a:prstGeom prst="rect">
            <a:avLst/>
          </a:prstGeom>
          <a:noFill/>
        </p:spPr>
        <p:txBody>
          <a:bodyPr wrap="square" lIns="0" rIns="0" tIns="0" bIns="0" anchor="t">
            <a:spAutoFit/>
          </a:bodyPr>
          <a:lstStyle/>
          <a:p>
            <a:pPr algn="l"/>
            <a:r>
              <a:rPr sz="800" b="1" i="0" spc="140">
                <a:solidFill>
                  <a:srgbClr val="93A1B0"/>
                </a:solidFill>
                <a:latin typeface="Segoe UI"/>
              </a:rPr>
              <a:t>MEANING</a:t>
            </a:r>
          </a:p>
        </p:txBody>
      </p:sp>
      <p:sp>
        <p:nvSpPr>
          <p:cNvPr id="11" name="TextBox 10"/>
          <p:cNvSpPr txBox="1"/>
          <p:nvPr/>
        </p:nvSpPr>
        <p:spPr>
          <a:xfrm>
            <a:off x="9326880" y="1581911"/>
            <a:ext cx="2194560" cy="219456"/>
          </a:xfrm>
          <a:prstGeom prst="rect">
            <a:avLst/>
          </a:prstGeom>
          <a:noFill/>
        </p:spPr>
        <p:txBody>
          <a:bodyPr wrap="square" lIns="0" rIns="0" tIns="0" bIns="0" anchor="t">
            <a:spAutoFit/>
          </a:bodyPr>
          <a:lstStyle/>
          <a:p>
            <a:pPr algn="l"/>
            <a:r>
              <a:rPr sz="800" b="1" i="0" spc="140">
                <a:solidFill>
                  <a:srgbClr val="93A1B0"/>
                </a:solidFill>
                <a:latin typeface="Segoe UI"/>
              </a:rPr>
              <a:t>WIRE VALUE</a:t>
            </a:r>
          </a:p>
        </p:txBody>
      </p:sp>
      <p:sp>
        <p:nvSpPr>
          <p:cNvPr id="12" name="Rectangle 11"/>
          <p:cNvSpPr/>
          <p:nvPr/>
        </p:nvSpPr>
        <p:spPr>
          <a:xfrm>
            <a:off x="731520" y="1874519"/>
            <a:ext cx="10728655" cy="10058"/>
          </a:xfrm>
          <a:prstGeom prst="rect">
            <a:avLst/>
          </a:prstGeom>
          <a:solidFill>
            <a:srgbClr val="2A3441"/>
          </a:solidFill>
          <a:ln>
            <a:noFill/>
          </a:ln>
          <a:effectLst/>
        </p:spPr>
        <p:txBody>
          <a:bodyPr rtlCol="0" anchor="ctr"/>
          <a:lstStyle/>
          <a:p/>
        </p:txBody>
      </p:sp>
      <p:sp>
        <p:nvSpPr>
          <p:cNvPr id="13" name="Rectangle 12"/>
          <p:cNvSpPr/>
          <p:nvPr/>
        </p:nvSpPr>
        <p:spPr>
          <a:xfrm>
            <a:off x="731520" y="2057400"/>
            <a:ext cx="50292" cy="475488"/>
          </a:xfrm>
          <a:prstGeom prst="rect">
            <a:avLst/>
          </a:prstGeom>
          <a:solidFill>
            <a:srgbClr val="FF3B1F"/>
          </a:solidFill>
          <a:ln>
            <a:noFill/>
          </a:ln>
          <a:effectLst/>
        </p:spPr>
        <p:txBody>
          <a:bodyPr rtlCol="0" anchor="ctr"/>
          <a:lstStyle/>
          <a:p/>
        </p:txBody>
      </p:sp>
      <p:sp>
        <p:nvSpPr>
          <p:cNvPr id="14" name="TextBox 13"/>
          <p:cNvSpPr txBox="1"/>
          <p:nvPr/>
        </p:nvSpPr>
        <p:spPr>
          <a:xfrm>
            <a:off x="960120" y="2057400"/>
            <a:ext cx="2377440" cy="384048"/>
          </a:xfrm>
          <a:prstGeom prst="rect">
            <a:avLst/>
          </a:prstGeom>
          <a:noFill/>
        </p:spPr>
        <p:txBody>
          <a:bodyPr wrap="square" lIns="0" rIns="0" tIns="0" bIns="0" anchor="t">
            <a:spAutoFit/>
          </a:bodyPr>
          <a:lstStyle/>
          <a:p>
            <a:pPr algn="l"/>
            <a:r>
              <a:rPr sz="2100" b="1" i="0" spc="80">
                <a:solidFill>
                  <a:srgbClr val="FF3B1F"/>
                </a:solidFill>
                <a:latin typeface="Segoe UI"/>
              </a:rPr>
              <a:t>SUNOG</a:t>
            </a:r>
          </a:p>
        </p:txBody>
      </p:sp>
      <p:sp>
        <p:nvSpPr>
          <p:cNvPr id="15" name="TextBox 14"/>
          <p:cNvSpPr txBox="1"/>
          <p:nvPr/>
        </p:nvSpPr>
        <p:spPr>
          <a:xfrm>
            <a:off x="3749039" y="2130552"/>
            <a:ext cx="1737360" cy="292608"/>
          </a:xfrm>
          <a:prstGeom prst="rect">
            <a:avLst/>
          </a:prstGeom>
          <a:noFill/>
        </p:spPr>
        <p:txBody>
          <a:bodyPr wrap="square" lIns="0" rIns="0" tIns="0" bIns="0" anchor="t">
            <a:spAutoFit/>
          </a:bodyPr>
          <a:lstStyle/>
          <a:p>
            <a:pPr algn="l"/>
            <a:r>
              <a:rPr sz="1300" b="0" i="0">
                <a:solidFill>
                  <a:srgbClr val="F2F5F8"/>
                </a:solidFill>
                <a:latin typeface="Segoe UI"/>
              </a:rPr>
              <a:t>Fire</a:t>
            </a:r>
          </a:p>
        </p:txBody>
      </p:sp>
      <p:sp>
        <p:nvSpPr>
          <p:cNvPr id="16" name="TextBox 15"/>
          <p:cNvSpPr txBox="1"/>
          <p:nvPr/>
        </p:nvSpPr>
        <p:spPr>
          <a:xfrm>
            <a:off x="5669280" y="2130552"/>
            <a:ext cx="3474720" cy="292608"/>
          </a:xfrm>
          <a:prstGeom prst="rect">
            <a:avLst/>
          </a:prstGeom>
          <a:noFill/>
        </p:spPr>
        <p:txBody>
          <a:bodyPr wrap="square" lIns="0" rIns="0" tIns="0" bIns="0" anchor="t">
            <a:spAutoFit/>
          </a:bodyPr>
          <a:lstStyle/>
          <a:p>
            <a:pPr algn="l"/>
            <a:r>
              <a:rPr sz="1300" b="0" i="0">
                <a:solidFill>
                  <a:srgbClr val="93A1B0"/>
                </a:solidFill>
                <a:latin typeface="Segoe UI"/>
              </a:rPr>
              <a:t>Fire / structural blaze</a:t>
            </a:r>
          </a:p>
        </p:txBody>
      </p:sp>
      <p:sp>
        <p:nvSpPr>
          <p:cNvPr id="17" name="TextBox 16"/>
          <p:cNvSpPr txBox="1"/>
          <p:nvPr/>
        </p:nvSpPr>
        <p:spPr>
          <a:xfrm>
            <a:off x="9326880" y="2148839"/>
            <a:ext cx="2194560" cy="274320"/>
          </a:xfrm>
          <a:prstGeom prst="rect">
            <a:avLst/>
          </a:prstGeom>
          <a:noFill/>
        </p:spPr>
        <p:txBody>
          <a:bodyPr wrap="square" lIns="0" rIns="0" tIns="0" bIns="0" anchor="t">
            <a:spAutoFit/>
          </a:bodyPr>
          <a:lstStyle/>
          <a:p>
            <a:pPr algn="l"/>
            <a:r>
              <a:rPr sz="1050" b="0" i="0">
                <a:solidFill>
                  <a:srgbClr val="93A1B0"/>
                </a:solidFill>
                <a:latin typeface="Consolas"/>
              </a:rPr>
              <a:t>"SUNOG"</a:t>
            </a:r>
          </a:p>
        </p:txBody>
      </p:sp>
      <p:sp>
        <p:nvSpPr>
          <p:cNvPr id="18" name="Rectangle 17"/>
          <p:cNvSpPr/>
          <p:nvPr/>
        </p:nvSpPr>
        <p:spPr>
          <a:xfrm>
            <a:off x="731520" y="2715768"/>
            <a:ext cx="10728655" cy="10058"/>
          </a:xfrm>
          <a:prstGeom prst="rect">
            <a:avLst/>
          </a:prstGeom>
          <a:solidFill>
            <a:srgbClr val="2A3441"/>
          </a:solidFill>
          <a:ln>
            <a:noFill/>
          </a:ln>
          <a:effectLst/>
        </p:spPr>
        <p:txBody>
          <a:bodyPr rtlCol="0" anchor="ctr"/>
          <a:lstStyle/>
          <a:p/>
        </p:txBody>
      </p:sp>
      <p:sp>
        <p:nvSpPr>
          <p:cNvPr id="19" name="Rectangle 18"/>
          <p:cNvSpPr/>
          <p:nvPr/>
        </p:nvSpPr>
        <p:spPr>
          <a:xfrm>
            <a:off x="731520" y="2898648"/>
            <a:ext cx="50292" cy="475488"/>
          </a:xfrm>
          <a:prstGeom prst="rect">
            <a:avLst/>
          </a:prstGeom>
          <a:solidFill>
            <a:srgbClr val="00D08A"/>
          </a:solidFill>
          <a:ln>
            <a:noFill/>
          </a:ln>
          <a:effectLst/>
        </p:spPr>
        <p:txBody>
          <a:bodyPr rtlCol="0" anchor="ctr"/>
          <a:lstStyle/>
          <a:p/>
        </p:txBody>
      </p:sp>
      <p:sp>
        <p:nvSpPr>
          <p:cNvPr id="20" name="TextBox 19"/>
          <p:cNvSpPr txBox="1"/>
          <p:nvPr/>
        </p:nvSpPr>
        <p:spPr>
          <a:xfrm>
            <a:off x="960120" y="2898648"/>
            <a:ext cx="2377440" cy="384048"/>
          </a:xfrm>
          <a:prstGeom prst="rect">
            <a:avLst/>
          </a:prstGeom>
          <a:noFill/>
        </p:spPr>
        <p:txBody>
          <a:bodyPr wrap="square" lIns="0" rIns="0" tIns="0" bIns="0" anchor="t">
            <a:spAutoFit/>
          </a:bodyPr>
          <a:lstStyle/>
          <a:p>
            <a:pPr algn="l"/>
            <a:r>
              <a:rPr sz="2100" b="1" i="0" spc="80">
                <a:solidFill>
                  <a:srgbClr val="00D08A"/>
                </a:solidFill>
                <a:latin typeface="Segoe UI"/>
              </a:rPr>
              <a:t>MEDIKAL</a:t>
            </a:r>
          </a:p>
        </p:txBody>
      </p:sp>
      <p:sp>
        <p:nvSpPr>
          <p:cNvPr id="21" name="TextBox 20"/>
          <p:cNvSpPr txBox="1"/>
          <p:nvPr/>
        </p:nvSpPr>
        <p:spPr>
          <a:xfrm>
            <a:off x="3749039" y="2971800"/>
            <a:ext cx="1737360" cy="292608"/>
          </a:xfrm>
          <a:prstGeom prst="rect">
            <a:avLst/>
          </a:prstGeom>
          <a:noFill/>
        </p:spPr>
        <p:txBody>
          <a:bodyPr wrap="square" lIns="0" rIns="0" tIns="0" bIns="0" anchor="t">
            <a:spAutoFit/>
          </a:bodyPr>
          <a:lstStyle/>
          <a:p>
            <a:pPr algn="l"/>
            <a:r>
              <a:rPr sz="1300" b="0" i="0">
                <a:solidFill>
                  <a:srgbClr val="F2F5F8"/>
                </a:solidFill>
                <a:latin typeface="Segoe UI"/>
              </a:rPr>
              <a:t>Medical</a:t>
            </a:r>
          </a:p>
        </p:txBody>
      </p:sp>
      <p:sp>
        <p:nvSpPr>
          <p:cNvPr id="22" name="TextBox 21"/>
          <p:cNvSpPr txBox="1"/>
          <p:nvPr/>
        </p:nvSpPr>
        <p:spPr>
          <a:xfrm>
            <a:off x="5669280" y="2971800"/>
            <a:ext cx="3474720" cy="292608"/>
          </a:xfrm>
          <a:prstGeom prst="rect">
            <a:avLst/>
          </a:prstGeom>
          <a:noFill/>
        </p:spPr>
        <p:txBody>
          <a:bodyPr wrap="square" lIns="0" rIns="0" tIns="0" bIns="0" anchor="t">
            <a:spAutoFit/>
          </a:bodyPr>
          <a:lstStyle/>
          <a:p>
            <a:pPr algn="l"/>
            <a:r>
              <a:rPr sz="1300" b="0" i="0">
                <a:solidFill>
                  <a:srgbClr val="93A1B0"/>
                </a:solidFill>
                <a:latin typeface="Segoe UI"/>
              </a:rPr>
              <a:t>Medical emergency</a:t>
            </a:r>
          </a:p>
        </p:txBody>
      </p:sp>
      <p:sp>
        <p:nvSpPr>
          <p:cNvPr id="23" name="TextBox 22"/>
          <p:cNvSpPr txBox="1"/>
          <p:nvPr/>
        </p:nvSpPr>
        <p:spPr>
          <a:xfrm>
            <a:off x="9326880" y="2990087"/>
            <a:ext cx="2194560" cy="274320"/>
          </a:xfrm>
          <a:prstGeom prst="rect">
            <a:avLst/>
          </a:prstGeom>
          <a:noFill/>
        </p:spPr>
        <p:txBody>
          <a:bodyPr wrap="square" lIns="0" rIns="0" tIns="0" bIns="0" anchor="t">
            <a:spAutoFit/>
          </a:bodyPr>
          <a:lstStyle/>
          <a:p>
            <a:pPr algn="l"/>
            <a:r>
              <a:rPr sz="1050" b="0" i="0">
                <a:solidFill>
                  <a:srgbClr val="93A1B0"/>
                </a:solidFill>
                <a:latin typeface="Consolas"/>
              </a:rPr>
              <a:t>"MEDIKAL"</a:t>
            </a:r>
          </a:p>
        </p:txBody>
      </p:sp>
      <p:sp>
        <p:nvSpPr>
          <p:cNvPr id="24" name="Rectangle 23"/>
          <p:cNvSpPr/>
          <p:nvPr/>
        </p:nvSpPr>
        <p:spPr>
          <a:xfrm>
            <a:off x="731520" y="3557015"/>
            <a:ext cx="10728655" cy="10058"/>
          </a:xfrm>
          <a:prstGeom prst="rect">
            <a:avLst/>
          </a:prstGeom>
          <a:solidFill>
            <a:srgbClr val="2A3441"/>
          </a:solidFill>
          <a:ln>
            <a:noFill/>
          </a:ln>
          <a:effectLst/>
        </p:spPr>
        <p:txBody>
          <a:bodyPr rtlCol="0" anchor="ctr"/>
          <a:lstStyle/>
          <a:p/>
        </p:txBody>
      </p:sp>
      <p:sp>
        <p:nvSpPr>
          <p:cNvPr id="25" name="Rectangle 24"/>
          <p:cNvSpPr/>
          <p:nvPr/>
        </p:nvSpPr>
        <p:spPr>
          <a:xfrm>
            <a:off x="731520" y="3739896"/>
            <a:ext cx="50292" cy="475488"/>
          </a:xfrm>
          <a:prstGeom prst="rect">
            <a:avLst/>
          </a:prstGeom>
          <a:solidFill>
            <a:srgbClr val="FFC53D"/>
          </a:solidFill>
          <a:ln>
            <a:noFill/>
          </a:ln>
          <a:effectLst/>
        </p:spPr>
        <p:txBody>
          <a:bodyPr rtlCol="0" anchor="ctr"/>
          <a:lstStyle/>
          <a:p/>
        </p:txBody>
      </p:sp>
      <p:sp>
        <p:nvSpPr>
          <p:cNvPr id="26" name="TextBox 25"/>
          <p:cNvSpPr txBox="1"/>
          <p:nvPr/>
        </p:nvSpPr>
        <p:spPr>
          <a:xfrm>
            <a:off x="960120" y="3739896"/>
            <a:ext cx="2377440" cy="384048"/>
          </a:xfrm>
          <a:prstGeom prst="rect">
            <a:avLst/>
          </a:prstGeom>
          <a:noFill/>
        </p:spPr>
        <p:txBody>
          <a:bodyPr wrap="square" lIns="0" rIns="0" tIns="0" bIns="0" anchor="t">
            <a:spAutoFit/>
          </a:bodyPr>
          <a:lstStyle/>
          <a:p>
            <a:pPr algn="l"/>
            <a:r>
              <a:rPr sz="2100" b="1" i="0" spc="80">
                <a:solidFill>
                  <a:srgbClr val="FFC53D"/>
                </a:solidFill>
                <a:latin typeface="Segoe UI"/>
              </a:rPr>
              <a:t>KRIMEN</a:t>
            </a:r>
          </a:p>
        </p:txBody>
      </p:sp>
      <p:sp>
        <p:nvSpPr>
          <p:cNvPr id="27" name="TextBox 26"/>
          <p:cNvSpPr txBox="1"/>
          <p:nvPr/>
        </p:nvSpPr>
        <p:spPr>
          <a:xfrm>
            <a:off x="3749039" y="3813048"/>
            <a:ext cx="1737360" cy="292608"/>
          </a:xfrm>
          <a:prstGeom prst="rect">
            <a:avLst/>
          </a:prstGeom>
          <a:noFill/>
        </p:spPr>
        <p:txBody>
          <a:bodyPr wrap="square" lIns="0" rIns="0" tIns="0" bIns="0" anchor="t">
            <a:spAutoFit/>
          </a:bodyPr>
          <a:lstStyle/>
          <a:p>
            <a:pPr algn="l"/>
            <a:r>
              <a:rPr sz="1300" b="0" i="0">
                <a:solidFill>
                  <a:srgbClr val="F2F5F8"/>
                </a:solidFill>
                <a:latin typeface="Segoe UI"/>
              </a:rPr>
              <a:t>Crime</a:t>
            </a:r>
          </a:p>
        </p:txBody>
      </p:sp>
      <p:sp>
        <p:nvSpPr>
          <p:cNvPr id="28" name="TextBox 27"/>
          <p:cNvSpPr txBox="1"/>
          <p:nvPr/>
        </p:nvSpPr>
        <p:spPr>
          <a:xfrm>
            <a:off x="5669280" y="3813048"/>
            <a:ext cx="3474720" cy="292608"/>
          </a:xfrm>
          <a:prstGeom prst="rect">
            <a:avLst/>
          </a:prstGeom>
          <a:noFill/>
        </p:spPr>
        <p:txBody>
          <a:bodyPr wrap="square" lIns="0" rIns="0" tIns="0" bIns="0" anchor="t">
            <a:spAutoFit/>
          </a:bodyPr>
          <a:lstStyle/>
          <a:p>
            <a:pPr algn="l"/>
            <a:r>
              <a:rPr sz="1300" b="0" i="0">
                <a:solidFill>
                  <a:srgbClr val="93A1B0"/>
                </a:solidFill>
                <a:latin typeface="Segoe UI"/>
              </a:rPr>
              <a:t>Crime / security threat</a:t>
            </a:r>
          </a:p>
        </p:txBody>
      </p:sp>
      <p:sp>
        <p:nvSpPr>
          <p:cNvPr id="29" name="TextBox 28"/>
          <p:cNvSpPr txBox="1"/>
          <p:nvPr/>
        </p:nvSpPr>
        <p:spPr>
          <a:xfrm>
            <a:off x="9326880" y="3831335"/>
            <a:ext cx="2194560" cy="274320"/>
          </a:xfrm>
          <a:prstGeom prst="rect">
            <a:avLst/>
          </a:prstGeom>
          <a:noFill/>
        </p:spPr>
        <p:txBody>
          <a:bodyPr wrap="square" lIns="0" rIns="0" tIns="0" bIns="0" anchor="t">
            <a:spAutoFit/>
          </a:bodyPr>
          <a:lstStyle/>
          <a:p>
            <a:pPr algn="l"/>
            <a:r>
              <a:rPr sz="1050" b="0" i="0">
                <a:solidFill>
                  <a:srgbClr val="93A1B0"/>
                </a:solidFill>
                <a:latin typeface="Consolas"/>
              </a:rPr>
              <a:t>"KRIMEN"</a:t>
            </a:r>
          </a:p>
        </p:txBody>
      </p:sp>
      <p:sp>
        <p:nvSpPr>
          <p:cNvPr id="30" name="Rectangle 29"/>
          <p:cNvSpPr/>
          <p:nvPr/>
        </p:nvSpPr>
        <p:spPr>
          <a:xfrm>
            <a:off x="731520" y="4398264"/>
            <a:ext cx="10728655" cy="10058"/>
          </a:xfrm>
          <a:prstGeom prst="rect">
            <a:avLst/>
          </a:prstGeom>
          <a:solidFill>
            <a:srgbClr val="2A3441"/>
          </a:solidFill>
          <a:ln>
            <a:noFill/>
          </a:ln>
          <a:effectLst/>
        </p:spPr>
        <p:txBody>
          <a:bodyPr rtlCol="0" anchor="ctr"/>
          <a:lstStyle/>
          <a:p/>
        </p:txBody>
      </p:sp>
      <p:sp>
        <p:nvSpPr>
          <p:cNvPr id="31" name="Rectangle 30"/>
          <p:cNvSpPr/>
          <p:nvPr/>
        </p:nvSpPr>
        <p:spPr>
          <a:xfrm>
            <a:off x="731520" y="4581144"/>
            <a:ext cx="50292" cy="475488"/>
          </a:xfrm>
          <a:prstGeom prst="rect">
            <a:avLst/>
          </a:prstGeom>
          <a:solidFill>
            <a:srgbClr val="4CC2FF"/>
          </a:solidFill>
          <a:ln>
            <a:noFill/>
          </a:ln>
          <a:effectLst/>
        </p:spPr>
        <p:txBody>
          <a:bodyPr rtlCol="0" anchor="ctr"/>
          <a:lstStyle/>
          <a:p/>
        </p:txBody>
      </p:sp>
      <p:sp>
        <p:nvSpPr>
          <p:cNvPr id="32" name="TextBox 31"/>
          <p:cNvSpPr txBox="1"/>
          <p:nvPr/>
        </p:nvSpPr>
        <p:spPr>
          <a:xfrm>
            <a:off x="960120" y="4581144"/>
            <a:ext cx="2377440" cy="384048"/>
          </a:xfrm>
          <a:prstGeom prst="rect">
            <a:avLst/>
          </a:prstGeom>
          <a:noFill/>
        </p:spPr>
        <p:txBody>
          <a:bodyPr wrap="square" lIns="0" rIns="0" tIns="0" bIns="0" anchor="t">
            <a:spAutoFit/>
          </a:bodyPr>
          <a:lstStyle/>
          <a:p>
            <a:pPr algn="l"/>
            <a:r>
              <a:rPr sz="2100" b="1" i="0" spc="80">
                <a:solidFill>
                  <a:srgbClr val="4CC2FF"/>
                </a:solidFill>
                <a:latin typeface="Segoe UI"/>
              </a:rPr>
              <a:t>BAHA</a:t>
            </a:r>
          </a:p>
        </p:txBody>
      </p:sp>
      <p:sp>
        <p:nvSpPr>
          <p:cNvPr id="33" name="TextBox 32"/>
          <p:cNvSpPr txBox="1"/>
          <p:nvPr/>
        </p:nvSpPr>
        <p:spPr>
          <a:xfrm>
            <a:off x="3749039" y="4654296"/>
            <a:ext cx="1737360" cy="292608"/>
          </a:xfrm>
          <a:prstGeom prst="rect">
            <a:avLst/>
          </a:prstGeom>
          <a:noFill/>
        </p:spPr>
        <p:txBody>
          <a:bodyPr wrap="square" lIns="0" rIns="0" tIns="0" bIns="0" anchor="t">
            <a:spAutoFit/>
          </a:bodyPr>
          <a:lstStyle/>
          <a:p>
            <a:pPr algn="l"/>
            <a:r>
              <a:rPr sz="1300" b="0" i="0">
                <a:solidFill>
                  <a:srgbClr val="F2F5F8"/>
                </a:solidFill>
                <a:latin typeface="Segoe UI"/>
              </a:rPr>
              <a:t>Flood</a:t>
            </a:r>
          </a:p>
        </p:txBody>
      </p:sp>
      <p:sp>
        <p:nvSpPr>
          <p:cNvPr id="34" name="TextBox 33"/>
          <p:cNvSpPr txBox="1"/>
          <p:nvPr/>
        </p:nvSpPr>
        <p:spPr>
          <a:xfrm>
            <a:off x="5669280" y="4654296"/>
            <a:ext cx="3474720" cy="292608"/>
          </a:xfrm>
          <a:prstGeom prst="rect">
            <a:avLst/>
          </a:prstGeom>
          <a:noFill/>
        </p:spPr>
        <p:txBody>
          <a:bodyPr wrap="square" lIns="0" rIns="0" tIns="0" bIns="0" anchor="t">
            <a:spAutoFit/>
          </a:bodyPr>
          <a:lstStyle/>
          <a:p>
            <a:pPr algn="l"/>
            <a:r>
              <a:rPr sz="1300" b="0" i="0">
                <a:solidFill>
                  <a:srgbClr val="93A1B0"/>
                </a:solidFill>
                <a:latin typeface="Segoe UI"/>
              </a:rPr>
              <a:t>Flood / severe weather</a:t>
            </a:r>
          </a:p>
        </p:txBody>
      </p:sp>
      <p:sp>
        <p:nvSpPr>
          <p:cNvPr id="35" name="TextBox 34"/>
          <p:cNvSpPr txBox="1"/>
          <p:nvPr/>
        </p:nvSpPr>
        <p:spPr>
          <a:xfrm>
            <a:off x="9326880" y="4672584"/>
            <a:ext cx="2194560" cy="274320"/>
          </a:xfrm>
          <a:prstGeom prst="rect">
            <a:avLst/>
          </a:prstGeom>
          <a:noFill/>
        </p:spPr>
        <p:txBody>
          <a:bodyPr wrap="square" lIns="0" rIns="0" tIns="0" bIns="0" anchor="t">
            <a:spAutoFit/>
          </a:bodyPr>
          <a:lstStyle/>
          <a:p>
            <a:pPr algn="l"/>
            <a:r>
              <a:rPr sz="1050" b="0" i="0">
                <a:solidFill>
                  <a:srgbClr val="93A1B0"/>
                </a:solidFill>
                <a:latin typeface="Consolas"/>
              </a:rPr>
              <a:t>"BAHA"</a:t>
            </a:r>
          </a:p>
        </p:txBody>
      </p:sp>
      <p:sp>
        <p:nvSpPr>
          <p:cNvPr id="36" name="Rectangle 35"/>
          <p:cNvSpPr/>
          <p:nvPr/>
        </p:nvSpPr>
        <p:spPr>
          <a:xfrm>
            <a:off x="731520" y="5239512"/>
            <a:ext cx="10728655" cy="10058"/>
          </a:xfrm>
          <a:prstGeom prst="rect">
            <a:avLst/>
          </a:prstGeom>
          <a:solidFill>
            <a:srgbClr val="2A3441"/>
          </a:solidFill>
          <a:ln>
            <a:noFill/>
          </a:ln>
          <a:effectLst/>
        </p:spPr>
        <p:txBody>
          <a:bodyPr rtlCol="0" anchor="ctr"/>
          <a:lstStyle/>
          <a:p/>
        </p:txBody>
      </p:sp>
      <p:sp>
        <p:nvSpPr>
          <p:cNvPr id="37" name="TextBox 36"/>
          <p:cNvSpPr txBox="1"/>
          <p:nvPr/>
        </p:nvSpPr>
        <p:spPr>
          <a:xfrm>
            <a:off x="731520" y="5532120"/>
            <a:ext cx="10698480" cy="640080"/>
          </a:xfrm>
          <a:prstGeom prst="rect">
            <a:avLst/>
          </a:prstGeom>
          <a:noFill/>
        </p:spPr>
        <p:txBody>
          <a:bodyPr wrap="square" lIns="0" rIns="0" tIns="0" bIns="0" anchor="t">
            <a:spAutoFit/>
          </a:bodyPr>
          <a:lstStyle/>
          <a:p>
            <a:pPr algn="l">
              <a:lnSpc>
                <a:spcPct val="135000"/>
              </a:lnSpc>
            </a:pPr>
            <a:r>
              <a:rPr sz="1250" b="0" i="0">
                <a:solidFill>
                  <a:srgbClr val="93A1B0"/>
                </a:solidFill>
                <a:latin typeface="Segoe UI"/>
              </a:rPr>
              <a:t>Citizens never type text — the only citizen-originated value is one of these four IDs.</a:t>
            </a:r>
          </a:p>
          <a:p>
            <a:pPr algn="l">
              <a:lnSpc>
                <a:spcPct val="135000"/>
              </a:lnSpc>
            </a:pPr>
            <a:r>
              <a:rPr sz="1250" b="0" i="0">
                <a:solidFill>
                  <a:srgbClr val="93A1B0"/>
                </a:solidFill>
                <a:latin typeface="Segoe UI"/>
              </a:rPr>
              <a:t>The payload ID equals the Bisaya label, so the wire format stays human-inspectable on 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05  ·  WIRE FORMAT</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64 bytes. Three fields. Zero PII.</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06 / 14</a:t>
            </a:r>
          </a:p>
        </p:txBody>
      </p:sp>
      <p:sp>
        <p:nvSpPr>
          <p:cNvPr id="8" name="Rectangle 7"/>
          <p:cNvSpPr/>
          <p:nvPr/>
        </p:nvSpPr>
        <p:spPr>
          <a:xfrm>
            <a:off x="731520" y="1783080"/>
            <a:ext cx="10728655" cy="1024128"/>
          </a:xfrm>
          <a:prstGeom prst="rect">
            <a:avLst/>
          </a:prstGeom>
          <a:solidFill>
            <a:srgbClr val="1A222C"/>
          </a:solidFill>
          <a:ln w="12700">
            <a:solidFill>
              <a:srgbClr val="2A3441"/>
            </a:solidFill>
          </a:ln>
          <a:effectLst/>
        </p:spPr>
        <p:txBody>
          <a:bodyPr rtlCol="0" anchor="ctr"/>
          <a:lstStyle/>
          <a:p/>
        </p:txBody>
      </p:sp>
      <p:sp>
        <p:nvSpPr>
          <p:cNvPr id="9" name="TextBox 8"/>
          <p:cNvSpPr txBox="1"/>
          <p:nvPr/>
        </p:nvSpPr>
        <p:spPr>
          <a:xfrm>
            <a:off x="1005840" y="2075688"/>
            <a:ext cx="8961120" cy="502920"/>
          </a:xfrm>
          <a:prstGeom prst="rect">
            <a:avLst/>
          </a:prstGeom>
          <a:noFill/>
        </p:spPr>
        <p:txBody>
          <a:bodyPr wrap="square" lIns="0" rIns="0" tIns="0" bIns="0" anchor="t">
            <a:spAutoFit/>
          </a:bodyPr>
          <a:lstStyle/>
          <a:p>
            <a:pPr algn="l"/>
            <a:r>
              <a:rPr sz="2500" b="0" i="0">
                <a:solidFill>
                  <a:srgbClr val="F2F5F8"/>
                </a:solidFill>
                <a:latin typeface="Consolas"/>
              </a:rPr>
              <a:t>["SUNOG", 10.3157, 123.8854]</a:t>
            </a:r>
          </a:p>
        </p:txBody>
      </p:sp>
      <p:sp>
        <p:nvSpPr>
          <p:cNvPr id="10" name="TextBox 9"/>
          <p:cNvSpPr txBox="1"/>
          <p:nvPr/>
        </p:nvSpPr>
        <p:spPr>
          <a:xfrm>
            <a:off x="10088575" y="2167128"/>
            <a:ext cx="1097280" cy="274320"/>
          </a:xfrm>
          <a:prstGeom prst="rect">
            <a:avLst/>
          </a:prstGeom>
          <a:noFill/>
        </p:spPr>
        <p:txBody>
          <a:bodyPr wrap="square" lIns="0" rIns="0" tIns="0" bIns="0" anchor="t">
            <a:spAutoFit/>
          </a:bodyPr>
          <a:lstStyle/>
          <a:p>
            <a:pPr algn="r"/>
            <a:r>
              <a:rPr sz="900" b="1" i="0" spc="120">
                <a:solidFill>
                  <a:srgbClr val="00D08A"/>
                </a:solidFill>
                <a:latin typeface="Segoe UI"/>
              </a:rPr>
              <a:t>≤ 64 BYTES</a:t>
            </a:r>
          </a:p>
        </p:txBody>
      </p:sp>
      <p:sp>
        <p:nvSpPr>
          <p:cNvPr id="11" name="TextBox 10"/>
          <p:cNvSpPr txBox="1"/>
          <p:nvPr/>
        </p:nvSpPr>
        <p:spPr>
          <a:xfrm>
            <a:off x="731520" y="3200400"/>
            <a:ext cx="5943600" cy="3291840"/>
          </a:xfrm>
          <a:prstGeom prst="rect">
            <a:avLst/>
          </a:prstGeom>
          <a:noFill/>
        </p:spPr>
        <p:txBody>
          <a:bodyPr wrap="square" lIns="0" rIns="0" tIns="0" bIns="0">
            <a:spAutoFit/>
          </a:bodyPr>
          <a:lstStyle/>
          <a:p>
            <a:pPr marL="256032" indent="-256032">
              <a:lnSpc>
                <a:spcPct val="128000"/>
              </a:lnSpc>
              <a:spcAft>
                <a:spcPts val="1300"/>
              </a:spcAft>
              <a:buClr>
                <a:srgbClr val="4C5A6A"/>
              </a:buClr>
              <a:buFont typeface="Arial"/>
              <a:buChar char="—"/>
            </a:pPr>
            <a:r>
              <a:rPr sz="1300">
                <a:solidFill>
                  <a:srgbClr val="F2F5F8"/>
                </a:solidFill>
                <a:latin typeface="Segoe UI"/>
              </a:rPr>
              <a:t>Exactly 3 positional elements: category, WGS84 latitude, longitude.</a:t>
            </a:r>
          </a:p>
          <a:p>
            <a:pPr marL="256032" indent="-256032">
              <a:lnSpc>
                <a:spcPct val="128000"/>
              </a:lnSpc>
              <a:spcAft>
                <a:spcPts val="1300"/>
              </a:spcAft>
              <a:buClr>
                <a:srgbClr val="4C5A6A"/>
              </a:buClr>
              <a:buFont typeface="Arial"/>
              <a:buChar char="—"/>
            </a:pPr>
            <a:r>
              <a:rPr sz="1300">
                <a:solidFill>
                  <a:srgbClr val="F2F5F8"/>
                </a:solidFill>
                <a:latin typeface="Segoe UI"/>
              </a:rPr>
              <a:t>Coordinates rounded to 4 decimal places — about 11 m, enough to dispatch.</a:t>
            </a:r>
          </a:p>
          <a:p>
            <a:pPr marL="256032" indent="-256032">
              <a:lnSpc>
                <a:spcPct val="128000"/>
              </a:lnSpc>
              <a:spcAft>
                <a:spcPts val="1300"/>
              </a:spcAft>
              <a:buClr>
                <a:srgbClr val="4C5A6A"/>
              </a:buClr>
              <a:buFont typeface="Arial"/>
              <a:buChar char="—"/>
            </a:pPr>
            <a:r>
              <a:rPr sz="1300">
                <a:solidFill>
                  <a:srgbClr val="F2F5F8"/>
                </a:solidFill>
                <a:latin typeface="Segoe UI"/>
              </a:rPr>
              <a:t>Category must be one of the four IDs; any other string is rejected.</a:t>
            </a:r>
          </a:p>
          <a:p>
            <a:pPr marL="256032" indent="-256032">
              <a:lnSpc>
                <a:spcPct val="128000"/>
              </a:lnSpc>
              <a:spcAft>
                <a:spcPts val="1300"/>
              </a:spcAft>
              <a:buClr>
                <a:srgbClr val="4C5A6A"/>
              </a:buClr>
              <a:buFont typeface="Arial"/>
              <a:buChar char="—"/>
            </a:pPr>
            <a:r>
              <a:rPr sz="1300">
                <a:solidFill>
                  <a:srgbClr val="F2F5F8"/>
                </a:solidFill>
                <a:latin typeface="Segoe UI"/>
              </a:rPr>
              <a:t>No name, phone, device ID, IP or free text. Zero PII, by construction.</a:t>
            </a:r>
          </a:p>
          <a:p>
            <a:pPr marL="256032" indent="-256032">
              <a:lnSpc>
                <a:spcPct val="128000"/>
              </a:lnSpc>
              <a:spcAft>
                <a:spcPts val="1300"/>
              </a:spcAft>
              <a:buClr>
                <a:srgbClr val="4C5A6A"/>
              </a:buClr>
              <a:buFont typeface="Arial"/>
              <a:buChar char="—"/>
            </a:pPr>
            <a:r>
              <a:rPr sz="1300">
                <a:solidFill>
                  <a:srgbClr val="F2F5F8"/>
                </a:solidFill>
                <a:latin typeface="Segoe UI"/>
              </a:rPr>
              <a:t>One alert = one single-line array. No envelope, no metadata, no version key.</a:t>
            </a:r>
          </a:p>
        </p:txBody>
      </p:sp>
      <p:sp>
        <p:nvSpPr>
          <p:cNvPr id="12" name="TextBox 11"/>
          <p:cNvSpPr txBox="1"/>
          <p:nvPr/>
        </p:nvSpPr>
        <p:spPr>
          <a:xfrm>
            <a:off x="731520" y="5349240"/>
            <a:ext cx="5852160" cy="274320"/>
          </a:xfrm>
          <a:prstGeom prst="rect">
            <a:avLst/>
          </a:prstGeom>
          <a:noFill/>
        </p:spPr>
        <p:txBody>
          <a:bodyPr wrap="square" lIns="0" rIns="0" tIns="0" bIns="0" anchor="t">
            <a:spAutoFit/>
          </a:bodyPr>
          <a:lstStyle/>
          <a:p>
            <a:pPr algn="l"/>
            <a:r>
              <a:rPr sz="1150" b="0" i="0">
                <a:solidFill>
                  <a:srgbClr val="93A1B0"/>
                </a:solidFill>
                <a:latin typeface="Segoe UI"/>
              </a:rPr>
              <a:t>Anything that doesn't match the shape → 400, rejected by default.</a:t>
            </a:r>
          </a:p>
        </p:txBody>
      </p:sp>
      <p:sp>
        <p:nvSpPr>
          <p:cNvPr id="13" name="Rectangle 12"/>
          <p:cNvSpPr/>
          <p:nvPr/>
        </p:nvSpPr>
        <p:spPr>
          <a:xfrm>
            <a:off x="7086600" y="3200400"/>
            <a:ext cx="4373575" cy="3063240"/>
          </a:xfrm>
          <a:prstGeom prst="rect">
            <a:avLst/>
          </a:prstGeom>
          <a:solidFill>
            <a:srgbClr val="12181F"/>
          </a:solidFill>
          <a:ln w="12700">
            <a:solidFill>
              <a:srgbClr val="2A3441"/>
            </a:solidFill>
          </a:ln>
          <a:effectLst/>
        </p:spPr>
        <p:txBody>
          <a:bodyPr rtlCol="0" anchor="ctr"/>
          <a:lstStyle/>
          <a:p/>
        </p:txBody>
      </p:sp>
      <p:sp>
        <p:nvSpPr>
          <p:cNvPr id="14" name="TextBox 13"/>
          <p:cNvSpPr txBox="1"/>
          <p:nvPr/>
        </p:nvSpPr>
        <p:spPr>
          <a:xfrm>
            <a:off x="7360920" y="3429000"/>
            <a:ext cx="3657600" cy="237744"/>
          </a:xfrm>
          <a:prstGeom prst="rect">
            <a:avLst/>
          </a:prstGeom>
          <a:noFill/>
        </p:spPr>
        <p:txBody>
          <a:bodyPr wrap="square" lIns="0" rIns="0" tIns="0" bIns="0" anchor="t">
            <a:spAutoFit/>
          </a:bodyPr>
          <a:lstStyle/>
          <a:p>
            <a:pPr algn="l"/>
            <a:r>
              <a:rPr sz="950" b="1" i="0" spc="140">
                <a:solidFill>
                  <a:srgbClr val="93A1B0"/>
                </a:solidFill>
                <a:latin typeface="Segoe UI"/>
              </a:rPr>
              <a:t>SINGLE SOURCE OF TRUTH</a:t>
            </a:r>
          </a:p>
        </p:txBody>
      </p:sp>
      <p:sp>
        <p:nvSpPr>
          <p:cNvPr id="15" name="TextBox 14"/>
          <p:cNvSpPr txBox="1"/>
          <p:nvPr/>
        </p:nvSpPr>
        <p:spPr>
          <a:xfrm>
            <a:off x="7360920" y="3794760"/>
            <a:ext cx="3840480" cy="1005840"/>
          </a:xfrm>
          <a:prstGeom prst="rect">
            <a:avLst/>
          </a:prstGeom>
          <a:noFill/>
        </p:spPr>
        <p:txBody>
          <a:bodyPr wrap="square" lIns="0" rIns="0" tIns="0" bIns="0" anchor="t">
            <a:spAutoFit/>
          </a:bodyPr>
          <a:lstStyle/>
          <a:p>
            <a:pPr algn="l">
              <a:lnSpc>
                <a:spcPct val="150000"/>
              </a:lnSpc>
            </a:pPr>
            <a:r>
              <a:rPr sz="1100" b="0" i="0">
                <a:solidFill>
                  <a:srgbClr val="4CC2FF"/>
                </a:solidFill>
                <a:latin typeface="Consolas"/>
              </a:rPr>
              <a:t>buildSosPayload()</a:t>
            </a:r>
          </a:p>
          <a:p>
            <a:pPr algn="l">
              <a:lnSpc>
                <a:spcPct val="150000"/>
              </a:lnSpc>
            </a:pPr>
            <a:r>
              <a:rPr sz="1100" b="0" i="0">
                <a:solidFill>
                  <a:srgbClr val="4CC2FF"/>
                </a:solidFill>
                <a:latin typeface="Consolas"/>
              </a:rPr>
              <a:t>serializeSosPayload()</a:t>
            </a:r>
          </a:p>
          <a:p>
            <a:pPr algn="l">
              <a:lnSpc>
                <a:spcPct val="150000"/>
              </a:lnSpc>
            </a:pPr>
            <a:r>
              <a:rPr sz="1100" b="0" i="0">
                <a:solidFill>
                  <a:srgbClr val="4CC2FF"/>
                </a:solidFill>
                <a:latin typeface="Consolas"/>
              </a:rPr>
              <a:t>parseSosPayload()</a:t>
            </a:r>
          </a:p>
        </p:txBody>
      </p:sp>
      <p:sp>
        <p:nvSpPr>
          <p:cNvPr id="16" name="Rectangle 15"/>
          <p:cNvSpPr/>
          <p:nvPr/>
        </p:nvSpPr>
        <p:spPr>
          <a:xfrm>
            <a:off x="7360920" y="4937760"/>
            <a:ext cx="3824935" cy="10058"/>
          </a:xfrm>
          <a:prstGeom prst="rect">
            <a:avLst/>
          </a:prstGeom>
          <a:solidFill>
            <a:srgbClr val="2A3441"/>
          </a:solidFill>
          <a:ln>
            <a:noFill/>
          </a:ln>
          <a:effectLst/>
        </p:spPr>
        <p:txBody>
          <a:bodyPr rtlCol="0" anchor="ctr"/>
          <a:lstStyle/>
          <a:p/>
        </p:txBody>
      </p:sp>
      <p:sp>
        <p:nvSpPr>
          <p:cNvPr id="17" name="TextBox 16"/>
          <p:cNvSpPr txBox="1"/>
          <p:nvPr/>
        </p:nvSpPr>
        <p:spPr>
          <a:xfrm>
            <a:off x="7360920" y="5093208"/>
            <a:ext cx="3840480" cy="914400"/>
          </a:xfrm>
          <a:prstGeom prst="rect">
            <a:avLst/>
          </a:prstGeom>
          <a:noFill/>
        </p:spPr>
        <p:txBody>
          <a:bodyPr wrap="square" lIns="0" rIns="0" tIns="0" bIns="0" anchor="t">
            <a:spAutoFit/>
          </a:bodyPr>
          <a:lstStyle/>
          <a:p>
            <a:pPr algn="l">
              <a:lnSpc>
                <a:spcPct val="135000"/>
              </a:lnSpc>
            </a:pPr>
            <a:r>
              <a:rPr sz="1150" b="0" i="0">
                <a:solidFill>
                  <a:srgbClr val="93A1B0"/>
                </a:solidFill>
                <a:latin typeface="Segoe UI"/>
              </a:rPr>
              <a:t>The app and the intake API both call</a:t>
            </a:r>
          </a:p>
          <a:p>
            <a:pPr algn="l">
              <a:lnSpc>
                <a:spcPct val="135000"/>
              </a:lnSpc>
            </a:pPr>
            <a:r>
              <a:rPr sz="1150" b="0" i="0">
                <a:solidFill>
                  <a:srgbClr val="93A1B0"/>
                </a:solidFill>
                <a:latin typeface="Segoe UI"/>
              </a:rPr>
              <a:t>these helpers. Never re-implemented,</a:t>
            </a:r>
          </a:p>
          <a:p>
            <a:pPr algn="l">
              <a:lnSpc>
                <a:spcPct val="135000"/>
              </a:lnSpc>
            </a:pPr>
            <a:r>
              <a:rPr sz="1150" b="0" i="0">
                <a:solidFill>
                  <a:srgbClr val="93A1B0"/>
                </a:solidFill>
                <a:latin typeface="Segoe UI"/>
              </a:rPr>
              <a:t>never extended with extra fields.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06  ·  RESPONDER CONSOLE</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Structured signal, not conversation.</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07 / 14</a:t>
            </a:r>
          </a:p>
        </p:txBody>
      </p:sp>
      <p:sp>
        <p:nvSpPr>
          <p:cNvPr id="8" name="Rectangle 7"/>
          <p:cNvSpPr/>
          <p:nvPr/>
        </p:nvSpPr>
        <p:spPr>
          <a:xfrm>
            <a:off x="731520" y="1783080"/>
            <a:ext cx="10728655" cy="3127248"/>
          </a:xfrm>
          <a:prstGeom prst="rect">
            <a:avLst/>
          </a:prstGeom>
          <a:solidFill>
            <a:srgbClr val="12181F"/>
          </a:solidFill>
          <a:ln w="12700">
            <a:solidFill>
              <a:srgbClr val="2A3441"/>
            </a:solidFill>
          </a:ln>
          <a:effectLst/>
        </p:spPr>
        <p:txBody>
          <a:bodyPr rtlCol="0" anchor="ctr"/>
          <a:lstStyle/>
          <a:p/>
        </p:txBody>
      </p:sp>
      <p:sp>
        <p:nvSpPr>
          <p:cNvPr id="9" name="Rectangle 8"/>
          <p:cNvSpPr/>
          <p:nvPr/>
        </p:nvSpPr>
        <p:spPr>
          <a:xfrm>
            <a:off x="731520" y="1783080"/>
            <a:ext cx="2788920" cy="3127248"/>
          </a:xfrm>
          <a:prstGeom prst="rect">
            <a:avLst/>
          </a:prstGeom>
          <a:solidFill>
            <a:srgbClr val="0B0F14"/>
          </a:solidFill>
          <a:ln>
            <a:noFill/>
          </a:ln>
          <a:effectLst/>
        </p:spPr>
        <p:txBody>
          <a:bodyPr rtlCol="0" anchor="ctr"/>
          <a:lstStyle/>
          <a:p/>
        </p:txBody>
      </p:sp>
      <p:sp>
        <p:nvSpPr>
          <p:cNvPr id="10" name="Rectangle 9"/>
          <p:cNvSpPr/>
          <p:nvPr/>
        </p:nvSpPr>
        <p:spPr>
          <a:xfrm>
            <a:off x="3520439" y="1783080"/>
            <a:ext cx="5013655" cy="3127248"/>
          </a:xfrm>
          <a:prstGeom prst="rect">
            <a:avLst/>
          </a:prstGeom>
          <a:solidFill>
            <a:srgbClr val="0E1319"/>
          </a:solidFill>
          <a:ln>
            <a:noFill/>
          </a:ln>
          <a:effectLst/>
        </p:spPr>
        <p:txBody>
          <a:bodyPr rtlCol="0" anchor="ctr"/>
          <a:lstStyle/>
          <a:p/>
        </p:txBody>
      </p:sp>
      <p:sp>
        <p:nvSpPr>
          <p:cNvPr id="11" name="Rectangle 10"/>
          <p:cNvSpPr/>
          <p:nvPr/>
        </p:nvSpPr>
        <p:spPr>
          <a:xfrm>
            <a:off x="8534095" y="1783080"/>
            <a:ext cx="2926080" cy="3127248"/>
          </a:xfrm>
          <a:prstGeom prst="rect">
            <a:avLst/>
          </a:prstGeom>
          <a:solidFill>
            <a:srgbClr val="0B0F14"/>
          </a:solidFill>
          <a:ln>
            <a:noFill/>
          </a:ln>
          <a:effectLst/>
        </p:spPr>
        <p:txBody>
          <a:bodyPr rtlCol="0" anchor="ctr"/>
          <a:lstStyle/>
          <a:p/>
        </p:txBody>
      </p:sp>
      <p:sp>
        <p:nvSpPr>
          <p:cNvPr id="12" name="Rectangle 11"/>
          <p:cNvSpPr/>
          <p:nvPr/>
        </p:nvSpPr>
        <p:spPr>
          <a:xfrm>
            <a:off x="8534095" y="1783080"/>
            <a:ext cx="7315" cy="3127248"/>
          </a:xfrm>
          <a:prstGeom prst="rect">
            <a:avLst/>
          </a:prstGeom>
          <a:solidFill>
            <a:srgbClr val="2A3441"/>
          </a:solidFill>
          <a:ln>
            <a:noFill/>
          </a:ln>
          <a:effectLst/>
        </p:spPr>
        <p:txBody>
          <a:bodyPr rtlCol="0" anchor="ctr"/>
          <a:lstStyle/>
          <a:p/>
        </p:txBody>
      </p:sp>
      <p:sp>
        <p:nvSpPr>
          <p:cNvPr id="13" name="Rectangle 12"/>
          <p:cNvSpPr/>
          <p:nvPr/>
        </p:nvSpPr>
        <p:spPr>
          <a:xfrm>
            <a:off x="3520439" y="1783080"/>
            <a:ext cx="7315" cy="3127248"/>
          </a:xfrm>
          <a:prstGeom prst="rect">
            <a:avLst/>
          </a:prstGeom>
          <a:solidFill>
            <a:srgbClr val="2A3441"/>
          </a:solidFill>
          <a:ln>
            <a:noFill/>
          </a:ln>
          <a:effectLst/>
        </p:spPr>
        <p:txBody>
          <a:bodyPr rtlCol="0" anchor="ctr"/>
          <a:lstStyle/>
          <a:p/>
        </p:txBody>
      </p:sp>
      <p:sp>
        <p:nvSpPr>
          <p:cNvPr id="14" name="TextBox 13"/>
          <p:cNvSpPr txBox="1"/>
          <p:nvPr/>
        </p:nvSpPr>
        <p:spPr>
          <a:xfrm>
            <a:off x="914400" y="1947672"/>
            <a:ext cx="2194560" cy="219456"/>
          </a:xfrm>
          <a:prstGeom prst="rect">
            <a:avLst/>
          </a:prstGeom>
          <a:noFill/>
        </p:spPr>
        <p:txBody>
          <a:bodyPr wrap="square" lIns="0" rIns="0" tIns="0" bIns="0" anchor="t">
            <a:spAutoFit/>
          </a:bodyPr>
          <a:lstStyle/>
          <a:p>
            <a:pPr algn="l"/>
            <a:r>
              <a:rPr sz="850" b="1" i="0" spc="120">
                <a:solidFill>
                  <a:srgbClr val="93A1B0"/>
                </a:solidFill>
                <a:latin typeface="Segoe UI"/>
              </a:rPr>
              <a:t>INCOMING  ·  4</a:t>
            </a:r>
          </a:p>
        </p:txBody>
      </p:sp>
      <p:sp>
        <p:nvSpPr>
          <p:cNvPr id="15" name="Rectangle 14"/>
          <p:cNvSpPr/>
          <p:nvPr/>
        </p:nvSpPr>
        <p:spPr>
          <a:xfrm>
            <a:off x="896112" y="2258568"/>
            <a:ext cx="480974" cy="219456"/>
          </a:xfrm>
          <a:prstGeom prst="rect">
            <a:avLst/>
          </a:prstGeom>
          <a:solidFill>
            <a:srgbClr val="1A222C"/>
          </a:solidFill>
          <a:ln w="9525">
            <a:solidFill>
              <a:srgbClr val="2A3441"/>
            </a:solidFill>
          </a:ln>
          <a:effectLst/>
        </p:spPr>
        <p:txBody>
          <a:bodyPr rtlCol="0" anchor="ctr"/>
          <a:lstStyle/>
          <a:p/>
        </p:txBody>
      </p:sp>
      <p:sp>
        <p:nvSpPr>
          <p:cNvPr id="16" name="TextBox 15"/>
          <p:cNvSpPr txBox="1"/>
          <p:nvPr/>
        </p:nvSpPr>
        <p:spPr>
          <a:xfrm>
            <a:off x="896112" y="2286000"/>
            <a:ext cx="480974" cy="164592"/>
          </a:xfrm>
          <a:prstGeom prst="rect">
            <a:avLst/>
          </a:prstGeom>
          <a:noFill/>
        </p:spPr>
        <p:txBody>
          <a:bodyPr wrap="square" lIns="0" rIns="0" tIns="0" bIns="0" anchor="t">
            <a:spAutoFit/>
          </a:bodyPr>
          <a:lstStyle/>
          <a:p>
            <a:pPr algn="ctr"/>
            <a:r>
              <a:rPr sz="650" b="1" i="0">
                <a:solidFill>
                  <a:srgbClr val="F2F5F8"/>
                </a:solidFill>
                <a:latin typeface="Segoe UI"/>
              </a:rPr>
              <a:t>ALL</a:t>
            </a:r>
          </a:p>
        </p:txBody>
      </p:sp>
      <p:sp>
        <p:nvSpPr>
          <p:cNvPr id="17" name="Rectangle 16"/>
          <p:cNvSpPr/>
          <p:nvPr/>
        </p:nvSpPr>
        <p:spPr>
          <a:xfrm>
            <a:off x="1431950" y="2258568"/>
            <a:ext cx="594360" cy="219456"/>
          </a:xfrm>
          <a:prstGeom prst="rect">
            <a:avLst/>
          </a:prstGeom>
          <a:noFill/>
          <a:ln w="9525">
            <a:solidFill>
              <a:srgbClr val="FF3B1F"/>
            </a:solidFill>
          </a:ln>
          <a:effectLst/>
        </p:spPr>
        <p:txBody>
          <a:bodyPr rtlCol="0" anchor="ctr"/>
          <a:lstStyle/>
          <a:p/>
        </p:txBody>
      </p:sp>
      <p:sp>
        <p:nvSpPr>
          <p:cNvPr id="18" name="TextBox 17"/>
          <p:cNvSpPr txBox="1"/>
          <p:nvPr/>
        </p:nvSpPr>
        <p:spPr>
          <a:xfrm>
            <a:off x="1431950" y="2286000"/>
            <a:ext cx="594360" cy="164592"/>
          </a:xfrm>
          <a:prstGeom prst="rect">
            <a:avLst/>
          </a:prstGeom>
          <a:noFill/>
        </p:spPr>
        <p:txBody>
          <a:bodyPr wrap="square" lIns="0" rIns="0" tIns="0" bIns="0" anchor="t">
            <a:spAutoFit/>
          </a:bodyPr>
          <a:lstStyle/>
          <a:p>
            <a:pPr algn="ctr"/>
            <a:r>
              <a:rPr sz="650" b="1" i="0">
                <a:solidFill>
                  <a:srgbClr val="FF3B1F"/>
                </a:solidFill>
                <a:latin typeface="Segoe UI"/>
              </a:rPr>
              <a:t>SUNOG</a:t>
            </a:r>
          </a:p>
        </p:txBody>
      </p:sp>
      <p:sp>
        <p:nvSpPr>
          <p:cNvPr id="19" name="Rectangle 18"/>
          <p:cNvSpPr/>
          <p:nvPr/>
        </p:nvSpPr>
        <p:spPr>
          <a:xfrm>
            <a:off x="2081174" y="2258568"/>
            <a:ext cx="707745" cy="219456"/>
          </a:xfrm>
          <a:prstGeom prst="rect">
            <a:avLst/>
          </a:prstGeom>
          <a:noFill/>
          <a:ln w="9525">
            <a:solidFill>
              <a:srgbClr val="00D08A"/>
            </a:solidFill>
          </a:ln>
          <a:effectLst/>
        </p:spPr>
        <p:txBody>
          <a:bodyPr rtlCol="0" anchor="ctr"/>
          <a:lstStyle/>
          <a:p/>
        </p:txBody>
      </p:sp>
      <p:sp>
        <p:nvSpPr>
          <p:cNvPr id="20" name="TextBox 19"/>
          <p:cNvSpPr txBox="1"/>
          <p:nvPr/>
        </p:nvSpPr>
        <p:spPr>
          <a:xfrm>
            <a:off x="2081174" y="2286000"/>
            <a:ext cx="707745" cy="164592"/>
          </a:xfrm>
          <a:prstGeom prst="rect">
            <a:avLst/>
          </a:prstGeom>
          <a:noFill/>
        </p:spPr>
        <p:txBody>
          <a:bodyPr wrap="square" lIns="0" rIns="0" tIns="0" bIns="0" anchor="t">
            <a:spAutoFit/>
          </a:bodyPr>
          <a:lstStyle/>
          <a:p>
            <a:pPr algn="ctr"/>
            <a:r>
              <a:rPr sz="650" b="1" i="0">
                <a:solidFill>
                  <a:srgbClr val="00D08A"/>
                </a:solidFill>
                <a:latin typeface="Segoe UI"/>
              </a:rPr>
              <a:t>MEDIKAL</a:t>
            </a:r>
          </a:p>
        </p:txBody>
      </p:sp>
      <p:sp>
        <p:nvSpPr>
          <p:cNvPr id="21" name="Rectangle 20"/>
          <p:cNvSpPr/>
          <p:nvPr/>
        </p:nvSpPr>
        <p:spPr>
          <a:xfrm>
            <a:off x="2843784" y="2258568"/>
            <a:ext cx="651052" cy="219456"/>
          </a:xfrm>
          <a:prstGeom prst="rect">
            <a:avLst/>
          </a:prstGeom>
          <a:noFill/>
          <a:ln w="9525">
            <a:solidFill>
              <a:srgbClr val="FFC53D"/>
            </a:solidFill>
          </a:ln>
          <a:effectLst/>
        </p:spPr>
        <p:txBody>
          <a:bodyPr rtlCol="0" anchor="ctr"/>
          <a:lstStyle/>
          <a:p/>
        </p:txBody>
      </p:sp>
      <p:sp>
        <p:nvSpPr>
          <p:cNvPr id="22" name="TextBox 21"/>
          <p:cNvSpPr txBox="1"/>
          <p:nvPr/>
        </p:nvSpPr>
        <p:spPr>
          <a:xfrm>
            <a:off x="2843784" y="2286000"/>
            <a:ext cx="651052" cy="164592"/>
          </a:xfrm>
          <a:prstGeom prst="rect">
            <a:avLst/>
          </a:prstGeom>
          <a:noFill/>
        </p:spPr>
        <p:txBody>
          <a:bodyPr wrap="square" lIns="0" rIns="0" tIns="0" bIns="0" anchor="t">
            <a:spAutoFit/>
          </a:bodyPr>
          <a:lstStyle/>
          <a:p>
            <a:pPr algn="ctr"/>
            <a:r>
              <a:rPr sz="650" b="1" i="0">
                <a:solidFill>
                  <a:srgbClr val="FFC53D"/>
                </a:solidFill>
                <a:latin typeface="Segoe UI"/>
              </a:rPr>
              <a:t>KRIMEN</a:t>
            </a:r>
          </a:p>
        </p:txBody>
      </p:sp>
      <p:sp>
        <p:nvSpPr>
          <p:cNvPr id="23" name="Rectangle 22"/>
          <p:cNvSpPr/>
          <p:nvPr/>
        </p:nvSpPr>
        <p:spPr>
          <a:xfrm>
            <a:off x="3549700" y="2258568"/>
            <a:ext cx="537667" cy="219456"/>
          </a:xfrm>
          <a:prstGeom prst="rect">
            <a:avLst/>
          </a:prstGeom>
          <a:noFill/>
          <a:ln w="9525">
            <a:solidFill>
              <a:srgbClr val="4CC2FF"/>
            </a:solidFill>
          </a:ln>
          <a:effectLst/>
        </p:spPr>
        <p:txBody>
          <a:bodyPr rtlCol="0" anchor="ctr"/>
          <a:lstStyle/>
          <a:p/>
        </p:txBody>
      </p:sp>
      <p:sp>
        <p:nvSpPr>
          <p:cNvPr id="24" name="TextBox 23"/>
          <p:cNvSpPr txBox="1"/>
          <p:nvPr/>
        </p:nvSpPr>
        <p:spPr>
          <a:xfrm>
            <a:off x="3549700" y="2286000"/>
            <a:ext cx="537667" cy="164592"/>
          </a:xfrm>
          <a:prstGeom prst="rect">
            <a:avLst/>
          </a:prstGeom>
          <a:noFill/>
        </p:spPr>
        <p:txBody>
          <a:bodyPr wrap="square" lIns="0" rIns="0" tIns="0" bIns="0" anchor="t">
            <a:spAutoFit/>
          </a:bodyPr>
          <a:lstStyle/>
          <a:p>
            <a:pPr algn="ctr"/>
            <a:r>
              <a:rPr sz="650" b="1" i="0">
                <a:solidFill>
                  <a:srgbClr val="4CC2FF"/>
                </a:solidFill>
                <a:latin typeface="Segoe UI"/>
              </a:rPr>
              <a:t>BAHA</a:t>
            </a:r>
          </a:p>
        </p:txBody>
      </p:sp>
      <p:sp>
        <p:nvSpPr>
          <p:cNvPr id="25" name="Rectangle 24"/>
          <p:cNvSpPr/>
          <p:nvPr/>
        </p:nvSpPr>
        <p:spPr>
          <a:xfrm>
            <a:off x="822960" y="2670048"/>
            <a:ext cx="36576" cy="384048"/>
          </a:xfrm>
          <a:prstGeom prst="rect">
            <a:avLst/>
          </a:prstGeom>
          <a:solidFill>
            <a:srgbClr val="FF3B1F"/>
          </a:solidFill>
          <a:ln>
            <a:noFill/>
          </a:ln>
          <a:effectLst/>
        </p:spPr>
        <p:txBody>
          <a:bodyPr rtlCol="0" anchor="ctr"/>
          <a:lstStyle/>
          <a:p/>
        </p:txBody>
      </p:sp>
      <p:sp>
        <p:nvSpPr>
          <p:cNvPr id="26" name="TextBox 25"/>
          <p:cNvSpPr txBox="1"/>
          <p:nvPr/>
        </p:nvSpPr>
        <p:spPr>
          <a:xfrm>
            <a:off x="969264" y="2651760"/>
            <a:ext cx="1188720" cy="219456"/>
          </a:xfrm>
          <a:prstGeom prst="rect">
            <a:avLst/>
          </a:prstGeom>
          <a:noFill/>
        </p:spPr>
        <p:txBody>
          <a:bodyPr wrap="square" lIns="0" rIns="0" tIns="0" bIns="0" anchor="t">
            <a:spAutoFit/>
          </a:bodyPr>
          <a:lstStyle/>
          <a:p>
            <a:pPr algn="l"/>
            <a:r>
              <a:rPr sz="850" b="1" i="0" spc="60">
                <a:solidFill>
                  <a:srgbClr val="FF3B1F"/>
                </a:solidFill>
                <a:latin typeface="Segoe UI"/>
              </a:rPr>
              <a:t>SUNOG</a:t>
            </a:r>
          </a:p>
        </p:txBody>
      </p:sp>
      <p:sp>
        <p:nvSpPr>
          <p:cNvPr id="27" name="TextBox 26"/>
          <p:cNvSpPr txBox="1"/>
          <p:nvPr/>
        </p:nvSpPr>
        <p:spPr>
          <a:xfrm>
            <a:off x="969264" y="2871215"/>
            <a:ext cx="822960" cy="182880"/>
          </a:xfrm>
          <a:prstGeom prst="rect">
            <a:avLst/>
          </a:prstGeom>
          <a:noFill/>
        </p:spPr>
        <p:txBody>
          <a:bodyPr wrap="square" lIns="0" rIns="0" tIns="0" bIns="0" anchor="t">
            <a:spAutoFit/>
          </a:bodyPr>
          <a:lstStyle/>
          <a:p>
            <a:pPr algn="l"/>
            <a:r>
              <a:rPr sz="650" b="0" i="0">
                <a:solidFill>
                  <a:srgbClr val="93A1B0"/>
                </a:solidFill>
                <a:latin typeface="Segoe UI"/>
              </a:rPr>
              <a:t>mesh · now</a:t>
            </a:r>
          </a:p>
        </p:txBody>
      </p:sp>
      <p:sp>
        <p:nvSpPr>
          <p:cNvPr id="28" name="TextBox 27"/>
          <p:cNvSpPr txBox="1"/>
          <p:nvPr/>
        </p:nvSpPr>
        <p:spPr>
          <a:xfrm>
            <a:off x="2743199" y="2871215"/>
            <a:ext cx="685800" cy="182880"/>
          </a:xfrm>
          <a:prstGeom prst="rect">
            <a:avLst/>
          </a:prstGeom>
          <a:noFill/>
        </p:spPr>
        <p:txBody>
          <a:bodyPr wrap="square" lIns="0" rIns="0" tIns="0" bIns="0" anchor="t">
            <a:spAutoFit/>
          </a:bodyPr>
          <a:lstStyle/>
          <a:p>
            <a:pPr algn="r"/>
            <a:r>
              <a:rPr sz="650" b="0" i="0">
                <a:solidFill>
                  <a:srgbClr val="93A1B0"/>
                </a:solidFill>
                <a:latin typeface="Consolas"/>
              </a:rPr>
              <a:t>1.1 km</a:t>
            </a:r>
          </a:p>
        </p:txBody>
      </p:sp>
      <p:sp>
        <p:nvSpPr>
          <p:cNvPr id="29" name="Rectangle 28"/>
          <p:cNvSpPr/>
          <p:nvPr/>
        </p:nvSpPr>
        <p:spPr>
          <a:xfrm>
            <a:off x="822960" y="3255264"/>
            <a:ext cx="2606039" cy="603504"/>
          </a:xfrm>
          <a:prstGeom prst="rect">
            <a:avLst/>
          </a:prstGeom>
          <a:solidFill>
            <a:srgbClr val="1A222C"/>
          </a:solidFill>
          <a:ln>
            <a:noFill/>
          </a:ln>
          <a:effectLst/>
        </p:spPr>
        <p:txBody>
          <a:bodyPr rtlCol="0" anchor="ctr"/>
          <a:lstStyle/>
          <a:p/>
        </p:txBody>
      </p:sp>
      <p:sp>
        <p:nvSpPr>
          <p:cNvPr id="30" name="Rectangle 29"/>
          <p:cNvSpPr/>
          <p:nvPr/>
        </p:nvSpPr>
        <p:spPr>
          <a:xfrm>
            <a:off x="822960" y="3328416"/>
            <a:ext cx="36576" cy="384048"/>
          </a:xfrm>
          <a:prstGeom prst="rect">
            <a:avLst/>
          </a:prstGeom>
          <a:solidFill>
            <a:srgbClr val="00D08A"/>
          </a:solidFill>
          <a:ln>
            <a:noFill/>
          </a:ln>
          <a:effectLst/>
        </p:spPr>
        <p:txBody>
          <a:bodyPr rtlCol="0" anchor="ctr"/>
          <a:lstStyle/>
          <a:p/>
        </p:txBody>
      </p:sp>
      <p:sp>
        <p:nvSpPr>
          <p:cNvPr id="31" name="TextBox 30"/>
          <p:cNvSpPr txBox="1"/>
          <p:nvPr/>
        </p:nvSpPr>
        <p:spPr>
          <a:xfrm>
            <a:off x="969264" y="3310128"/>
            <a:ext cx="1188720" cy="219456"/>
          </a:xfrm>
          <a:prstGeom prst="rect">
            <a:avLst/>
          </a:prstGeom>
          <a:noFill/>
        </p:spPr>
        <p:txBody>
          <a:bodyPr wrap="square" lIns="0" rIns="0" tIns="0" bIns="0" anchor="t">
            <a:spAutoFit/>
          </a:bodyPr>
          <a:lstStyle/>
          <a:p>
            <a:pPr algn="l"/>
            <a:r>
              <a:rPr sz="850" b="1" i="0" spc="60">
                <a:solidFill>
                  <a:srgbClr val="00D08A"/>
                </a:solidFill>
                <a:latin typeface="Segoe UI"/>
              </a:rPr>
              <a:t>MEDIKAL</a:t>
            </a:r>
          </a:p>
        </p:txBody>
      </p:sp>
      <p:sp>
        <p:nvSpPr>
          <p:cNvPr id="32" name="TextBox 31"/>
          <p:cNvSpPr txBox="1"/>
          <p:nvPr/>
        </p:nvSpPr>
        <p:spPr>
          <a:xfrm>
            <a:off x="969264" y="3529584"/>
            <a:ext cx="822960" cy="182880"/>
          </a:xfrm>
          <a:prstGeom prst="rect">
            <a:avLst/>
          </a:prstGeom>
          <a:noFill/>
        </p:spPr>
        <p:txBody>
          <a:bodyPr wrap="square" lIns="0" rIns="0" tIns="0" bIns="0" anchor="t">
            <a:spAutoFit/>
          </a:bodyPr>
          <a:lstStyle/>
          <a:p>
            <a:pPr algn="l"/>
            <a:r>
              <a:rPr sz="650" b="0" i="0">
                <a:solidFill>
                  <a:srgbClr val="93A1B0"/>
                </a:solidFill>
                <a:latin typeface="Segoe UI"/>
              </a:rPr>
              <a:t>mesh · 2m</a:t>
            </a:r>
          </a:p>
        </p:txBody>
      </p:sp>
      <p:sp>
        <p:nvSpPr>
          <p:cNvPr id="33" name="TextBox 32"/>
          <p:cNvSpPr txBox="1"/>
          <p:nvPr/>
        </p:nvSpPr>
        <p:spPr>
          <a:xfrm>
            <a:off x="2743199" y="3529584"/>
            <a:ext cx="685800" cy="182880"/>
          </a:xfrm>
          <a:prstGeom prst="rect">
            <a:avLst/>
          </a:prstGeom>
          <a:noFill/>
        </p:spPr>
        <p:txBody>
          <a:bodyPr wrap="square" lIns="0" rIns="0" tIns="0" bIns="0" anchor="t">
            <a:spAutoFit/>
          </a:bodyPr>
          <a:lstStyle/>
          <a:p>
            <a:pPr algn="r"/>
            <a:r>
              <a:rPr sz="650" b="0" i="0">
                <a:solidFill>
                  <a:srgbClr val="93A1B0"/>
                </a:solidFill>
                <a:latin typeface="Consolas"/>
              </a:rPr>
              <a:t>2.4 km</a:t>
            </a:r>
          </a:p>
        </p:txBody>
      </p:sp>
      <p:sp>
        <p:nvSpPr>
          <p:cNvPr id="34" name="Rectangle 33"/>
          <p:cNvSpPr/>
          <p:nvPr/>
        </p:nvSpPr>
        <p:spPr>
          <a:xfrm>
            <a:off x="822960" y="3986783"/>
            <a:ext cx="36576" cy="384048"/>
          </a:xfrm>
          <a:prstGeom prst="rect">
            <a:avLst/>
          </a:prstGeom>
          <a:solidFill>
            <a:srgbClr val="4CC2FF"/>
          </a:solidFill>
          <a:ln>
            <a:noFill/>
          </a:ln>
          <a:effectLst/>
        </p:spPr>
        <p:txBody>
          <a:bodyPr rtlCol="0" anchor="ctr"/>
          <a:lstStyle/>
          <a:p/>
        </p:txBody>
      </p:sp>
      <p:sp>
        <p:nvSpPr>
          <p:cNvPr id="35" name="TextBox 34"/>
          <p:cNvSpPr txBox="1"/>
          <p:nvPr/>
        </p:nvSpPr>
        <p:spPr>
          <a:xfrm>
            <a:off x="969264" y="3968496"/>
            <a:ext cx="1188720" cy="219456"/>
          </a:xfrm>
          <a:prstGeom prst="rect">
            <a:avLst/>
          </a:prstGeom>
          <a:noFill/>
        </p:spPr>
        <p:txBody>
          <a:bodyPr wrap="square" lIns="0" rIns="0" tIns="0" bIns="0" anchor="t">
            <a:spAutoFit/>
          </a:bodyPr>
          <a:lstStyle/>
          <a:p>
            <a:pPr algn="l"/>
            <a:r>
              <a:rPr sz="850" b="1" i="0" spc="60">
                <a:solidFill>
                  <a:srgbClr val="4CC2FF"/>
                </a:solidFill>
                <a:latin typeface="Segoe UI"/>
              </a:rPr>
              <a:t>BAHA</a:t>
            </a:r>
          </a:p>
        </p:txBody>
      </p:sp>
      <p:sp>
        <p:nvSpPr>
          <p:cNvPr id="36" name="TextBox 35"/>
          <p:cNvSpPr txBox="1"/>
          <p:nvPr/>
        </p:nvSpPr>
        <p:spPr>
          <a:xfrm>
            <a:off x="969264" y="4187952"/>
            <a:ext cx="822960" cy="182880"/>
          </a:xfrm>
          <a:prstGeom prst="rect">
            <a:avLst/>
          </a:prstGeom>
          <a:noFill/>
        </p:spPr>
        <p:txBody>
          <a:bodyPr wrap="square" lIns="0" rIns="0" tIns="0" bIns="0" anchor="t">
            <a:spAutoFit/>
          </a:bodyPr>
          <a:lstStyle/>
          <a:p>
            <a:pPr algn="l"/>
            <a:r>
              <a:rPr sz="650" b="0" i="0">
                <a:solidFill>
                  <a:srgbClr val="93A1B0"/>
                </a:solidFill>
                <a:latin typeface="Segoe UI"/>
              </a:rPr>
              <a:t>mesh · 6m</a:t>
            </a:r>
          </a:p>
        </p:txBody>
      </p:sp>
      <p:sp>
        <p:nvSpPr>
          <p:cNvPr id="37" name="TextBox 36"/>
          <p:cNvSpPr txBox="1"/>
          <p:nvPr/>
        </p:nvSpPr>
        <p:spPr>
          <a:xfrm>
            <a:off x="2743199" y="4187952"/>
            <a:ext cx="685800" cy="182880"/>
          </a:xfrm>
          <a:prstGeom prst="rect">
            <a:avLst/>
          </a:prstGeom>
          <a:noFill/>
        </p:spPr>
        <p:txBody>
          <a:bodyPr wrap="square" lIns="0" rIns="0" tIns="0" bIns="0" anchor="t">
            <a:spAutoFit/>
          </a:bodyPr>
          <a:lstStyle/>
          <a:p>
            <a:pPr algn="r"/>
            <a:r>
              <a:rPr sz="650" b="0" i="0">
                <a:solidFill>
                  <a:srgbClr val="93A1B0"/>
                </a:solidFill>
                <a:latin typeface="Consolas"/>
              </a:rPr>
              <a:t>4.8 km</a:t>
            </a:r>
          </a:p>
        </p:txBody>
      </p:sp>
      <p:pic>
        <p:nvPicPr>
          <p:cNvPr id="38" name="Picture 37" descr="aira-cebu-map.png"/>
          <p:cNvPicPr>
            <a:picLocks noChangeAspect="1"/>
          </p:cNvPicPr>
          <p:nvPr/>
        </p:nvPicPr>
        <p:blipFill>
          <a:blip r:embed="rId2"/>
          <a:stretch>
            <a:fillRect/>
          </a:stretch>
        </p:blipFill>
        <p:spPr>
          <a:xfrm>
            <a:off x="3520439" y="1783080"/>
            <a:ext cx="5013655" cy="3127248"/>
          </a:xfrm>
          <a:prstGeom prst="rect">
            <a:avLst/>
          </a:prstGeom>
        </p:spPr>
      </p:pic>
      <p:cxnSp>
        <p:nvCxnSpPr>
          <p:cNvPr id="39" name="Connector 38"/>
          <p:cNvCxnSpPr/>
          <p:nvPr/>
        </p:nvCxnSpPr>
        <p:spPr>
          <a:xfrm>
            <a:off x="5120640" y="3355848"/>
            <a:ext cx="1005839" cy="822960"/>
          </a:xfrm>
          <a:prstGeom prst="line">
            <a:avLst/>
          </a:prstGeom>
          <a:ln w="19050">
            <a:solidFill>
              <a:srgbClr val="93A1B0"/>
            </a:solidFill>
            <a:prstDash val="dash"/>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343400" y="2743200"/>
            <a:ext cx="146304" cy="146304"/>
          </a:xfrm>
          <a:prstGeom prst="rect">
            <a:avLst/>
          </a:prstGeom>
          <a:solidFill>
            <a:srgbClr val="FF3B1F"/>
          </a:solidFill>
          <a:ln>
            <a:noFill/>
          </a:ln>
          <a:effectLst/>
        </p:spPr>
        <p:txBody>
          <a:bodyPr rtlCol="0" anchor="ctr"/>
          <a:lstStyle/>
          <a:p/>
        </p:txBody>
      </p:sp>
      <p:sp>
        <p:nvSpPr>
          <p:cNvPr id="41" name="Rectangle 40"/>
          <p:cNvSpPr/>
          <p:nvPr/>
        </p:nvSpPr>
        <p:spPr>
          <a:xfrm>
            <a:off x="5120640" y="3355848"/>
            <a:ext cx="146304" cy="146304"/>
          </a:xfrm>
          <a:prstGeom prst="rect">
            <a:avLst/>
          </a:prstGeom>
          <a:solidFill>
            <a:srgbClr val="00D08A"/>
          </a:solidFill>
          <a:ln>
            <a:noFill/>
          </a:ln>
          <a:effectLst/>
        </p:spPr>
        <p:txBody>
          <a:bodyPr rtlCol="0" anchor="ctr"/>
          <a:lstStyle/>
          <a:p/>
        </p:txBody>
      </p:sp>
      <p:sp>
        <p:nvSpPr>
          <p:cNvPr id="42" name="Rectangle 41"/>
          <p:cNvSpPr/>
          <p:nvPr/>
        </p:nvSpPr>
        <p:spPr>
          <a:xfrm>
            <a:off x="5669279" y="2926080"/>
            <a:ext cx="146304" cy="146304"/>
          </a:xfrm>
          <a:prstGeom prst="rect">
            <a:avLst/>
          </a:prstGeom>
          <a:solidFill>
            <a:srgbClr val="FFC53D"/>
          </a:solidFill>
          <a:ln>
            <a:noFill/>
          </a:ln>
          <a:effectLst/>
        </p:spPr>
        <p:txBody>
          <a:bodyPr rtlCol="0" anchor="ctr"/>
          <a:lstStyle/>
          <a:p/>
        </p:txBody>
      </p:sp>
      <p:sp>
        <p:nvSpPr>
          <p:cNvPr id="43" name="Rectangle 42"/>
          <p:cNvSpPr/>
          <p:nvPr/>
        </p:nvSpPr>
        <p:spPr>
          <a:xfrm>
            <a:off x="4754879" y="3867911"/>
            <a:ext cx="146304" cy="146304"/>
          </a:xfrm>
          <a:prstGeom prst="rect">
            <a:avLst/>
          </a:prstGeom>
          <a:solidFill>
            <a:srgbClr val="4CC2FF"/>
          </a:solidFill>
          <a:ln>
            <a:noFill/>
          </a:ln>
          <a:effectLst/>
        </p:spPr>
        <p:txBody>
          <a:bodyPr rtlCol="0" anchor="ctr"/>
          <a:lstStyle/>
          <a:p/>
        </p:txBody>
      </p:sp>
      <p:sp>
        <p:nvSpPr>
          <p:cNvPr id="44" name="Rectangle 43"/>
          <p:cNvSpPr/>
          <p:nvPr/>
        </p:nvSpPr>
        <p:spPr>
          <a:xfrm>
            <a:off x="3648456" y="4507992"/>
            <a:ext cx="1700784" cy="274320"/>
          </a:xfrm>
          <a:prstGeom prst="rect">
            <a:avLst/>
          </a:prstGeom>
          <a:solidFill>
            <a:srgbClr val="0B0F14"/>
          </a:solidFill>
          <a:ln>
            <a:noFill/>
          </a:ln>
          <a:effectLst/>
        </p:spPr>
        <p:txBody>
          <a:bodyPr rtlCol="0" anchor="ctr"/>
          <a:lstStyle/>
          <a:p/>
        </p:txBody>
      </p:sp>
      <p:sp>
        <p:nvSpPr>
          <p:cNvPr id="45" name="TextBox 44"/>
          <p:cNvSpPr txBox="1"/>
          <p:nvPr/>
        </p:nvSpPr>
        <p:spPr>
          <a:xfrm>
            <a:off x="3758183" y="4562856"/>
            <a:ext cx="1554480" cy="182880"/>
          </a:xfrm>
          <a:prstGeom prst="rect">
            <a:avLst/>
          </a:prstGeom>
          <a:noFill/>
        </p:spPr>
        <p:txBody>
          <a:bodyPr wrap="square" lIns="0" rIns="0" tIns="0" bIns="0" anchor="t">
            <a:spAutoFit/>
          </a:bodyPr>
          <a:lstStyle/>
          <a:p>
            <a:pPr algn="l"/>
            <a:r>
              <a:rPr sz="700" b="0" i="0" spc="120">
                <a:solidFill>
                  <a:srgbClr val="93A1B0"/>
                </a:solidFill>
                <a:latin typeface="Segoe UI"/>
              </a:rPr>
              <a:t>4 ACTIVE  ·  1 SELECTED</a:t>
            </a:r>
          </a:p>
        </p:txBody>
      </p:sp>
      <p:sp>
        <p:nvSpPr>
          <p:cNvPr id="46" name="Rectangle 45"/>
          <p:cNvSpPr/>
          <p:nvPr/>
        </p:nvSpPr>
        <p:spPr>
          <a:xfrm>
            <a:off x="7071055" y="4507992"/>
            <a:ext cx="1335024" cy="274320"/>
          </a:xfrm>
          <a:prstGeom prst="rect">
            <a:avLst/>
          </a:prstGeom>
          <a:solidFill>
            <a:srgbClr val="0B0F14"/>
          </a:solidFill>
          <a:ln>
            <a:noFill/>
          </a:ln>
          <a:effectLst/>
        </p:spPr>
        <p:txBody>
          <a:bodyPr rtlCol="0" anchor="ctr"/>
          <a:lstStyle/>
          <a:p/>
        </p:txBody>
      </p:sp>
      <p:sp>
        <p:nvSpPr>
          <p:cNvPr id="47" name="TextBox 46"/>
          <p:cNvSpPr txBox="1"/>
          <p:nvPr/>
        </p:nvSpPr>
        <p:spPr>
          <a:xfrm>
            <a:off x="7162495" y="4562856"/>
            <a:ext cx="1188720" cy="182880"/>
          </a:xfrm>
          <a:prstGeom prst="rect">
            <a:avLst/>
          </a:prstGeom>
          <a:noFill/>
        </p:spPr>
        <p:txBody>
          <a:bodyPr wrap="square" lIns="0" rIns="0" tIns="0" bIns="0" anchor="t">
            <a:spAutoFit/>
          </a:bodyPr>
          <a:lstStyle/>
          <a:p>
            <a:pPr algn="r"/>
            <a:r>
              <a:rPr sz="700" b="0" i="0">
                <a:solidFill>
                  <a:srgbClr val="93A1B0"/>
                </a:solidFill>
                <a:latin typeface="Segoe UI"/>
              </a:rPr>
              <a:t>© OpenStreetMap</a:t>
            </a:r>
          </a:p>
        </p:txBody>
      </p:sp>
      <p:sp>
        <p:nvSpPr>
          <p:cNvPr id="48" name="Rectangle 47"/>
          <p:cNvSpPr/>
          <p:nvPr/>
        </p:nvSpPr>
        <p:spPr>
          <a:xfrm>
            <a:off x="3630168" y="1883664"/>
            <a:ext cx="1572768" cy="292608"/>
          </a:xfrm>
          <a:prstGeom prst="rect">
            <a:avLst/>
          </a:prstGeom>
          <a:solidFill>
            <a:srgbClr val="0B0F14"/>
          </a:solidFill>
          <a:ln>
            <a:noFill/>
          </a:ln>
          <a:effectLst/>
        </p:spPr>
        <p:txBody>
          <a:bodyPr rtlCol="0" anchor="ctr"/>
          <a:lstStyle/>
          <a:p/>
        </p:txBody>
      </p:sp>
      <p:sp>
        <p:nvSpPr>
          <p:cNvPr id="49" name="TextBox 48"/>
          <p:cNvSpPr txBox="1"/>
          <p:nvPr/>
        </p:nvSpPr>
        <p:spPr>
          <a:xfrm>
            <a:off x="3739896" y="1947672"/>
            <a:ext cx="1463040" cy="219456"/>
          </a:xfrm>
          <a:prstGeom prst="rect">
            <a:avLst/>
          </a:prstGeom>
          <a:noFill/>
        </p:spPr>
        <p:txBody>
          <a:bodyPr wrap="square" lIns="0" rIns="0" tIns="0" bIns="0" anchor="t">
            <a:spAutoFit/>
          </a:bodyPr>
          <a:lstStyle/>
          <a:p>
            <a:pPr algn="l"/>
            <a:r>
              <a:rPr sz="800" b="1" i="0" spc="140">
                <a:solidFill>
                  <a:srgbClr val="93A1B0"/>
                </a:solidFill>
                <a:latin typeface="Segoe UI"/>
              </a:rPr>
              <a:t>MAPLIBRE  ·  CEBU</a:t>
            </a:r>
          </a:p>
        </p:txBody>
      </p:sp>
      <p:sp>
        <p:nvSpPr>
          <p:cNvPr id="50" name="TextBox 49"/>
          <p:cNvSpPr txBox="1"/>
          <p:nvPr/>
        </p:nvSpPr>
        <p:spPr>
          <a:xfrm>
            <a:off x="8753551" y="1947672"/>
            <a:ext cx="2377440" cy="219456"/>
          </a:xfrm>
          <a:prstGeom prst="rect">
            <a:avLst/>
          </a:prstGeom>
          <a:noFill/>
        </p:spPr>
        <p:txBody>
          <a:bodyPr wrap="square" lIns="0" rIns="0" tIns="0" bIns="0" anchor="t">
            <a:spAutoFit/>
          </a:bodyPr>
          <a:lstStyle/>
          <a:p>
            <a:pPr algn="l"/>
            <a:r>
              <a:rPr sz="850" b="1" i="0" spc="140">
                <a:solidFill>
                  <a:srgbClr val="93A1B0"/>
                </a:solidFill>
                <a:latin typeface="Segoe UI"/>
              </a:rPr>
              <a:t>ROUTING</a:t>
            </a:r>
          </a:p>
        </p:txBody>
      </p:sp>
      <p:sp>
        <p:nvSpPr>
          <p:cNvPr id="51" name="TextBox 50"/>
          <p:cNvSpPr txBox="1"/>
          <p:nvPr/>
        </p:nvSpPr>
        <p:spPr>
          <a:xfrm>
            <a:off x="8753551" y="2286000"/>
            <a:ext cx="2468880" cy="274320"/>
          </a:xfrm>
          <a:prstGeom prst="rect">
            <a:avLst/>
          </a:prstGeom>
          <a:noFill/>
        </p:spPr>
        <p:txBody>
          <a:bodyPr wrap="square" lIns="0" rIns="0" tIns="0" bIns="0" anchor="t">
            <a:spAutoFit/>
          </a:bodyPr>
          <a:lstStyle/>
          <a:p>
            <a:pPr algn="l"/>
            <a:r>
              <a:rPr sz="700" b="0" i="0">
                <a:solidFill>
                  <a:srgbClr val="F2F5F8"/>
                </a:solidFill>
                <a:latin typeface="Consolas"/>
              </a:rPr>
              <a:t>["MEDIKAL",10.3157,123.8854]</a:t>
            </a:r>
          </a:p>
        </p:txBody>
      </p:sp>
      <p:sp>
        <p:nvSpPr>
          <p:cNvPr id="52" name="Rectangle 51"/>
          <p:cNvSpPr/>
          <p:nvPr/>
        </p:nvSpPr>
        <p:spPr>
          <a:xfrm>
            <a:off x="8753551" y="2651760"/>
            <a:ext cx="2487168" cy="10058"/>
          </a:xfrm>
          <a:prstGeom prst="rect">
            <a:avLst/>
          </a:prstGeom>
          <a:solidFill>
            <a:srgbClr val="2A3441"/>
          </a:solidFill>
          <a:ln>
            <a:noFill/>
          </a:ln>
          <a:effectLst/>
        </p:spPr>
        <p:txBody>
          <a:bodyPr rtlCol="0" anchor="ctr"/>
          <a:lstStyle/>
          <a:p/>
        </p:txBody>
      </p:sp>
      <p:sp>
        <p:nvSpPr>
          <p:cNvPr id="53" name="TextBox 52"/>
          <p:cNvSpPr txBox="1"/>
          <p:nvPr/>
        </p:nvSpPr>
        <p:spPr>
          <a:xfrm>
            <a:off x="8753551" y="2788920"/>
            <a:ext cx="1188720" cy="182880"/>
          </a:xfrm>
          <a:prstGeom prst="rect">
            <a:avLst/>
          </a:prstGeom>
          <a:noFill/>
        </p:spPr>
        <p:txBody>
          <a:bodyPr wrap="square" lIns="0" rIns="0" tIns="0" bIns="0" anchor="t">
            <a:spAutoFit/>
          </a:bodyPr>
          <a:lstStyle/>
          <a:p>
            <a:pPr algn="l"/>
            <a:r>
              <a:rPr sz="700" b="0" i="0" spc="100">
                <a:solidFill>
                  <a:srgbClr val="93A1B0"/>
                </a:solidFill>
                <a:latin typeface="Segoe UI"/>
              </a:rPr>
              <a:t>DISTANCE</a:t>
            </a:r>
          </a:p>
        </p:txBody>
      </p:sp>
      <p:sp>
        <p:nvSpPr>
          <p:cNvPr id="54" name="TextBox 53"/>
          <p:cNvSpPr txBox="1"/>
          <p:nvPr/>
        </p:nvSpPr>
        <p:spPr>
          <a:xfrm>
            <a:off x="9859975" y="2770632"/>
            <a:ext cx="1371600" cy="219456"/>
          </a:xfrm>
          <a:prstGeom prst="rect">
            <a:avLst/>
          </a:prstGeom>
          <a:noFill/>
        </p:spPr>
        <p:txBody>
          <a:bodyPr wrap="square" lIns="0" rIns="0" tIns="0" bIns="0" anchor="t">
            <a:spAutoFit/>
          </a:bodyPr>
          <a:lstStyle/>
          <a:p>
            <a:pPr algn="r"/>
            <a:r>
              <a:rPr sz="850" b="0" i="0">
                <a:solidFill>
                  <a:srgbClr val="F2F5F8"/>
                </a:solidFill>
                <a:latin typeface="Consolas"/>
              </a:rPr>
              <a:t>2.41 km</a:t>
            </a:r>
          </a:p>
        </p:txBody>
      </p:sp>
      <p:sp>
        <p:nvSpPr>
          <p:cNvPr id="55" name="TextBox 54"/>
          <p:cNvSpPr txBox="1"/>
          <p:nvPr/>
        </p:nvSpPr>
        <p:spPr>
          <a:xfrm>
            <a:off x="8753551" y="3209544"/>
            <a:ext cx="1188720" cy="182880"/>
          </a:xfrm>
          <a:prstGeom prst="rect">
            <a:avLst/>
          </a:prstGeom>
          <a:noFill/>
        </p:spPr>
        <p:txBody>
          <a:bodyPr wrap="square" lIns="0" rIns="0" tIns="0" bIns="0" anchor="t">
            <a:spAutoFit/>
          </a:bodyPr>
          <a:lstStyle/>
          <a:p>
            <a:pPr algn="l"/>
            <a:r>
              <a:rPr sz="700" b="0" i="0" spc="100">
                <a:solidFill>
                  <a:srgbClr val="93A1B0"/>
                </a:solidFill>
                <a:latin typeface="Segoe UI"/>
              </a:rPr>
              <a:t>ETA</a:t>
            </a:r>
          </a:p>
        </p:txBody>
      </p:sp>
      <p:sp>
        <p:nvSpPr>
          <p:cNvPr id="56" name="TextBox 55"/>
          <p:cNvSpPr txBox="1"/>
          <p:nvPr/>
        </p:nvSpPr>
        <p:spPr>
          <a:xfrm>
            <a:off x="9859975" y="3191256"/>
            <a:ext cx="1371600" cy="219456"/>
          </a:xfrm>
          <a:prstGeom prst="rect">
            <a:avLst/>
          </a:prstGeom>
          <a:noFill/>
        </p:spPr>
        <p:txBody>
          <a:bodyPr wrap="square" lIns="0" rIns="0" tIns="0" bIns="0" anchor="t">
            <a:spAutoFit/>
          </a:bodyPr>
          <a:lstStyle/>
          <a:p>
            <a:pPr algn="r"/>
            <a:r>
              <a:rPr sz="850" b="0" i="0">
                <a:solidFill>
                  <a:srgbClr val="F2F5F8"/>
                </a:solidFill>
                <a:latin typeface="Consolas"/>
              </a:rPr>
              <a:t>6 min</a:t>
            </a:r>
          </a:p>
        </p:txBody>
      </p:sp>
      <p:sp>
        <p:nvSpPr>
          <p:cNvPr id="57" name="TextBox 56"/>
          <p:cNvSpPr txBox="1"/>
          <p:nvPr/>
        </p:nvSpPr>
        <p:spPr>
          <a:xfrm>
            <a:off x="8753551" y="3630168"/>
            <a:ext cx="1188720" cy="182880"/>
          </a:xfrm>
          <a:prstGeom prst="rect">
            <a:avLst/>
          </a:prstGeom>
          <a:noFill/>
        </p:spPr>
        <p:txBody>
          <a:bodyPr wrap="square" lIns="0" rIns="0" tIns="0" bIns="0" anchor="t">
            <a:spAutoFit/>
          </a:bodyPr>
          <a:lstStyle/>
          <a:p>
            <a:pPr algn="l"/>
            <a:r>
              <a:rPr sz="700" b="0" i="0" spc="100">
                <a:solidFill>
                  <a:srgbClr val="93A1B0"/>
                </a:solidFill>
                <a:latin typeface="Segoe UI"/>
              </a:rPr>
              <a:t>UNIT</a:t>
            </a:r>
          </a:p>
        </p:txBody>
      </p:sp>
      <p:sp>
        <p:nvSpPr>
          <p:cNvPr id="58" name="TextBox 57"/>
          <p:cNvSpPr txBox="1"/>
          <p:nvPr/>
        </p:nvSpPr>
        <p:spPr>
          <a:xfrm>
            <a:off x="9859975" y="3611879"/>
            <a:ext cx="1371600" cy="219456"/>
          </a:xfrm>
          <a:prstGeom prst="rect">
            <a:avLst/>
          </a:prstGeom>
          <a:noFill/>
        </p:spPr>
        <p:txBody>
          <a:bodyPr wrap="square" lIns="0" rIns="0" tIns="0" bIns="0" anchor="t">
            <a:spAutoFit/>
          </a:bodyPr>
          <a:lstStyle/>
          <a:p>
            <a:pPr algn="r"/>
            <a:r>
              <a:rPr sz="850" b="0" i="0">
                <a:solidFill>
                  <a:srgbClr val="F2F5F8"/>
                </a:solidFill>
                <a:latin typeface="Consolas"/>
              </a:rPr>
              <a:t>S-01</a:t>
            </a:r>
          </a:p>
        </p:txBody>
      </p:sp>
      <p:sp>
        <p:nvSpPr>
          <p:cNvPr id="59" name="TextBox 58"/>
          <p:cNvSpPr txBox="1"/>
          <p:nvPr/>
        </p:nvSpPr>
        <p:spPr>
          <a:xfrm>
            <a:off x="8753551" y="4050791"/>
            <a:ext cx="1188720" cy="182880"/>
          </a:xfrm>
          <a:prstGeom prst="rect">
            <a:avLst/>
          </a:prstGeom>
          <a:noFill/>
        </p:spPr>
        <p:txBody>
          <a:bodyPr wrap="square" lIns="0" rIns="0" tIns="0" bIns="0" anchor="t">
            <a:spAutoFit/>
          </a:bodyPr>
          <a:lstStyle/>
          <a:p>
            <a:pPr algn="l"/>
            <a:r>
              <a:rPr sz="700" b="0" i="0" spc="100">
                <a:solidFill>
                  <a:srgbClr val="93A1B0"/>
                </a:solidFill>
                <a:latin typeface="Segoe UI"/>
              </a:rPr>
              <a:t>STATUS</a:t>
            </a:r>
          </a:p>
        </p:txBody>
      </p:sp>
      <p:sp>
        <p:nvSpPr>
          <p:cNvPr id="60" name="TextBox 59"/>
          <p:cNvSpPr txBox="1"/>
          <p:nvPr/>
        </p:nvSpPr>
        <p:spPr>
          <a:xfrm>
            <a:off x="9859975" y="4032504"/>
            <a:ext cx="1371600" cy="219456"/>
          </a:xfrm>
          <a:prstGeom prst="rect">
            <a:avLst/>
          </a:prstGeom>
          <a:noFill/>
        </p:spPr>
        <p:txBody>
          <a:bodyPr wrap="square" lIns="0" rIns="0" tIns="0" bIns="0" anchor="t">
            <a:spAutoFit/>
          </a:bodyPr>
          <a:lstStyle/>
          <a:p>
            <a:pPr algn="r"/>
            <a:r>
              <a:rPr sz="850" b="0" i="0">
                <a:solidFill>
                  <a:srgbClr val="F2F5F8"/>
                </a:solidFill>
                <a:latin typeface="Consolas"/>
              </a:rPr>
              <a:t>queued</a:t>
            </a:r>
          </a:p>
        </p:txBody>
      </p:sp>
      <p:sp>
        <p:nvSpPr>
          <p:cNvPr id="61" name="Rectangle 60"/>
          <p:cNvSpPr/>
          <p:nvPr/>
        </p:nvSpPr>
        <p:spPr>
          <a:xfrm>
            <a:off x="8753551" y="4526280"/>
            <a:ext cx="2487168" cy="329184"/>
          </a:xfrm>
          <a:prstGeom prst="rect">
            <a:avLst/>
          </a:prstGeom>
          <a:solidFill>
            <a:srgbClr val="F2F5F8"/>
          </a:solidFill>
          <a:ln>
            <a:noFill/>
          </a:ln>
          <a:effectLst/>
        </p:spPr>
        <p:txBody>
          <a:bodyPr rtlCol="0" anchor="ctr"/>
          <a:lstStyle/>
          <a:p/>
        </p:txBody>
      </p:sp>
      <p:sp>
        <p:nvSpPr>
          <p:cNvPr id="62" name="TextBox 61"/>
          <p:cNvSpPr txBox="1"/>
          <p:nvPr/>
        </p:nvSpPr>
        <p:spPr>
          <a:xfrm>
            <a:off x="8753551" y="4599432"/>
            <a:ext cx="2487168" cy="219456"/>
          </a:xfrm>
          <a:prstGeom prst="rect">
            <a:avLst/>
          </a:prstGeom>
          <a:noFill/>
        </p:spPr>
        <p:txBody>
          <a:bodyPr wrap="square" lIns="0" rIns="0" tIns="0" bIns="0" anchor="t">
            <a:spAutoFit/>
          </a:bodyPr>
          <a:lstStyle/>
          <a:p>
            <a:pPr algn="ctr"/>
            <a:r>
              <a:rPr sz="900" b="1" i="0" spc="160">
                <a:solidFill>
                  <a:srgbClr val="0B0F14"/>
                </a:solidFill>
                <a:latin typeface="Segoe UI"/>
              </a:rPr>
              <a:t>ASSIGN</a:t>
            </a:r>
          </a:p>
        </p:txBody>
      </p:sp>
      <p:sp>
        <p:nvSpPr>
          <p:cNvPr id="63" name="TextBox 62"/>
          <p:cNvSpPr txBox="1"/>
          <p:nvPr/>
        </p:nvSpPr>
        <p:spPr>
          <a:xfrm>
            <a:off x="731520" y="5230368"/>
            <a:ext cx="3429000" cy="1463040"/>
          </a:xfrm>
          <a:prstGeom prst="rect">
            <a:avLst/>
          </a:prstGeom>
          <a:noFill/>
        </p:spPr>
        <p:txBody>
          <a:bodyPr wrap="square" lIns="0" rIns="0" tIns="0" bIns="0">
            <a:spAutoFit/>
          </a:bodyPr>
          <a:lstStyle/>
          <a:p>
            <a:pPr marL="256032" indent="-256032">
              <a:lnSpc>
                <a:spcPct val="128000"/>
              </a:lnSpc>
              <a:spcAft>
                <a:spcPts val="800"/>
              </a:spcAft>
              <a:buClr>
                <a:srgbClr val="4C5A6A"/>
              </a:buClr>
              <a:buFont typeface="Arial"/>
              <a:buChar char="—"/>
            </a:pPr>
            <a:r>
              <a:rPr sz="1050">
                <a:solidFill>
                  <a:srgbClr val="F2F5F8"/>
                </a:solidFill>
                <a:latin typeface="Segoe UI"/>
              </a:rPr>
              <a:t>Queue rows are structured only — badge, time, distance, source tag.</a:t>
            </a:r>
          </a:p>
        </p:txBody>
      </p:sp>
      <p:sp>
        <p:nvSpPr>
          <p:cNvPr id="64" name="TextBox 63"/>
          <p:cNvSpPr txBox="1"/>
          <p:nvPr/>
        </p:nvSpPr>
        <p:spPr>
          <a:xfrm>
            <a:off x="4343400" y="5230368"/>
            <a:ext cx="3429000" cy="1463040"/>
          </a:xfrm>
          <a:prstGeom prst="rect">
            <a:avLst/>
          </a:prstGeom>
          <a:noFill/>
        </p:spPr>
        <p:txBody>
          <a:bodyPr wrap="square" lIns="0" rIns="0" tIns="0" bIns="0">
            <a:spAutoFit/>
          </a:bodyPr>
          <a:lstStyle/>
          <a:p>
            <a:pPr marL="256032" indent="-256032">
              <a:lnSpc>
                <a:spcPct val="128000"/>
              </a:lnSpc>
              <a:spcAft>
                <a:spcPts val="800"/>
              </a:spcAft>
              <a:buClr>
                <a:srgbClr val="4C5A6A"/>
              </a:buClr>
              <a:buFont typeface="Arial"/>
              <a:buChar char="—"/>
            </a:pPr>
            <a:r>
              <a:rPr sz="1050">
                <a:solidFill>
                  <a:srgbClr val="F2F5F8"/>
                </a:solidFill>
                <a:latin typeface="Segoe UI"/>
              </a:rPr>
              <a:t>Markers use category color; the map is never decorative.</a:t>
            </a:r>
          </a:p>
        </p:txBody>
      </p:sp>
      <p:sp>
        <p:nvSpPr>
          <p:cNvPr id="65" name="TextBox 64"/>
          <p:cNvSpPr txBox="1"/>
          <p:nvPr/>
        </p:nvSpPr>
        <p:spPr>
          <a:xfrm>
            <a:off x="7955279" y="5230368"/>
            <a:ext cx="3520440" cy="1463040"/>
          </a:xfrm>
          <a:prstGeom prst="rect">
            <a:avLst/>
          </a:prstGeom>
          <a:noFill/>
        </p:spPr>
        <p:txBody>
          <a:bodyPr wrap="square" lIns="0" rIns="0" tIns="0" bIns="0">
            <a:spAutoFit/>
          </a:bodyPr>
          <a:lstStyle/>
          <a:p>
            <a:pPr marL="256032" indent="-256032">
              <a:lnSpc>
                <a:spcPct val="128000"/>
              </a:lnSpc>
              <a:spcAft>
                <a:spcPts val="800"/>
              </a:spcAft>
              <a:buClr>
                <a:srgbClr val="4C5A6A"/>
              </a:buClr>
              <a:buFont typeface="Arial"/>
              <a:buChar char="—"/>
            </a:pPr>
            <a:r>
              <a:rPr sz="1050">
                <a:solidFill>
                  <a:srgbClr val="F2F5F8"/>
                </a:solidFill>
                <a:latin typeface="Segoe UI"/>
              </a:rPr>
              <a:t>The panel shows the decoded wire payload, so operators verify truth.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07  ·  DESIGN SYSTEM</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It has to look like equipment, not a startup.</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08 / 14</a:t>
            </a:r>
          </a:p>
        </p:txBody>
      </p:sp>
      <p:sp>
        <p:nvSpPr>
          <p:cNvPr id="8" name="TextBox 7"/>
          <p:cNvSpPr txBox="1"/>
          <p:nvPr/>
        </p:nvSpPr>
        <p:spPr>
          <a:xfrm>
            <a:off x="731520" y="1737360"/>
            <a:ext cx="4572000" cy="237744"/>
          </a:xfrm>
          <a:prstGeom prst="rect">
            <a:avLst/>
          </a:prstGeom>
          <a:noFill/>
        </p:spPr>
        <p:txBody>
          <a:bodyPr wrap="square" lIns="0" rIns="0" tIns="0" bIns="0" anchor="t">
            <a:spAutoFit/>
          </a:bodyPr>
          <a:lstStyle/>
          <a:p>
            <a:pPr algn="l"/>
            <a:r>
              <a:rPr sz="900" b="1" i="0" spc="140">
                <a:solidFill>
                  <a:srgbClr val="93A1B0"/>
                </a:solidFill>
                <a:latin typeface="Segoe UI"/>
              </a:rPr>
              <a:t>CORE TOKENS</a:t>
            </a:r>
          </a:p>
        </p:txBody>
      </p:sp>
      <p:sp>
        <p:nvSpPr>
          <p:cNvPr id="9" name="Rectangle 8"/>
          <p:cNvSpPr/>
          <p:nvPr/>
        </p:nvSpPr>
        <p:spPr>
          <a:xfrm>
            <a:off x="731520" y="2039112"/>
            <a:ext cx="749808" cy="566928"/>
          </a:xfrm>
          <a:prstGeom prst="rect">
            <a:avLst/>
          </a:prstGeom>
          <a:solidFill>
            <a:srgbClr val="0B0F14"/>
          </a:solidFill>
          <a:ln w="12700">
            <a:solidFill>
              <a:srgbClr val="2A3441"/>
            </a:solidFill>
          </a:ln>
          <a:effectLst/>
        </p:spPr>
        <p:txBody>
          <a:bodyPr rtlCol="0" anchor="ctr"/>
          <a:lstStyle/>
          <a:p/>
        </p:txBody>
      </p:sp>
      <p:sp>
        <p:nvSpPr>
          <p:cNvPr id="10" name="TextBox 9"/>
          <p:cNvSpPr txBox="1"/>
          <p:nvPr/>
        </p:nvSpPr>
        <p:spPr>
          <a:xfrm>
            <a:off x="731520" y="2679191"/>
            <a:ext cx="868680" cy="182880"/>
          </a:xfrm>
          <a:prstGeom prst="rect">
            <a:avLst/>
          </a:prstGeom>
          <a:noFill/>
        </p:spPr>
        <p:txBody>
          <a:bodyPr wrap="square" lIns="0" rIns="0" tIns="0" bIns="0" anchor="t">
            <a:spAutoFit/>
          </a:bodyPr>
          <a:lstStyle/>
          <a:p>
            <a:pPr algn="l"/>
            <a:r>
              <a:rPr sz="850" b="0" i="0">
                <a:solidFill>
                  <a:srgbClr val="F2F5F8"/>
                </a:solidFill>
                <a:latin typeface="Consolas"/>
              </a:rPr>
              <a:t>ink</a:t>
            </a:r>
          </a:p>
        </p:txBody>
      </p:sp>
      <p:sp>
        <p:nvSpPr>
          <p:cNvPr id="11" name="TextBox 10"/>
          <p:cNvSpPr txBox="1"/>
          <p:nvPr/>
        </p:nvSpPr>
        <p:spPr>
          <a:xfrm>
            <a:off x="731520" y="2843784"/>
            <a:ext cx="868680" cy="182880"/>
          </a:xfrm>
          <a:prstGeom prst="rect">
            <a:avLst/>
          </a:prstGeom>
          <a:noFill/>
        </p:spPr>
        <p:txBody>
          <a:bodyPr wrap="square" lIns="0" rIns="0" tIns="0" bIns="0" anchor="t">
            <a:spAutoFit/>
          </a:bodyPr>
          <a:lstStyle/>
          <a:p>
            <a:pPr algn="l"/>
            <a:r>
              <a:rPr sz="700" b="0" i="0">
                <a:solidFill>
                  <a:srgbClr val="93A1B0"/>
                </a:solidFill>
                <a:latin typeface="Consolas"/>
              </a:rPr>
              <a:t>0B0F14</a:t>
            </a:r>
          </a:p>
        </p:txBody>
      </p:sp>
      <p:sp>
        <p:nvSpPr>
          <p:cNvPr id="12" name="Rectangle 11"/>
          <p:cNvSpPr/>
          <p:nvPr/>
        </p:nvSpPr>
        <p:spPr>
          <a:xfrm>
            <a:off x="1664208" y="2039112"/>
            <a:ext cx="749808" cy="566928"/>
          </a:xfrm>
          <a:prstGeom prst="rect">
            <a:avLst/>
          </a:prstGeom>
          <a:solidFill>
            <a:srgbClr val="12181F"/>
          </a:solidFill>
          <a:ln w="12700">
            <a:solidFill>
              <a:srgbClr val="2A3441"/>
            </a:solidFill>
          </a:ln>
          <a:effectLst/>
        </p:spPr>
        <p:txBody>
          <a:bodyPr rtlCol="0" anchor="ctr"/>
          <a:lstStyle/>
          <a:p/>
        </p:txBody>
      </p:sp>
      <p:sp>
        <p:nvSpPr>
          <p:cNvPr id="13" name="TextBox 12"/>
          <p:cNvSpPr txBox="1"/>
          <p:nvPr/>
        </p:nvSpPr>
        <p:spPr>
          <a:xfrm>
            <a:off x="1664208" y="2679191"/>
            <a:ext cx="868680" cy="182880"/>
          </a:xfrm>
          <a:prstGeom prst="rect">
            <a:avLst/>
          </a:prstGeom>
          <a:noFill/>
        </p:spPr>
        <p:txBody>
          <a:bodyPr wrap="square" lIns="0" rIns="0" tIns="0" bIns="0" anchor="t">
            <a:spAutoFit/>
          </a:bodyPr>
          <a:lstStyle/>
          <a:p>
            <a:pPr algn="l"/>
            <a:r>
              <a:rPr sz="850" b="0" i="0">
                <a:solidFill>
                  <a:srgbClr val="F2F5F8"/>
                </a:solidFill>
                <a:latin typeface="Consolas"/>
              </a:rPr>
              <a:t>surface</a:t>
            </a:r>
          </a:p>
        </p:txBody>
      </p:sp>
      <p:sp>
        <p:nvSpPr>
          <p:cNvPr id="14" name="TextBox 13"/>
          <p:cNvSpPr txBox="1"/>
          <p:nvPr/>
        </p:nvSpPr>
        <p:spPr>
          <a:xfrm>
            <a:off x="1664208" y="2843784"/>
            <a:ext cx="868680" cy="182880"/>
          </a:xfrm>
          <a:prstGeom prst="rect">
            <a:avLst/>
          </a:prstGeom>
          <a:noFill/>
        </p:spPr>
        <p:txBody>
          <a:bodyPr wrap="square" lIns="0" rIns="0" tIns="0" bIns="0" anchor="t">
            <a:spAutoFit/>
          </a:bodyPr>
          <a:lstStyle/>
          <a:p>
            <a:pPr algn="l"/>
            <a:r>
              <a:rPr sz="700" b="0" i="0">
                <a:solidFill>
                  <a:srgbClr val="93A1B0"/>
                </a:solidFill>
                <a:latin typeface="Consolas"/>
              </a:rPr>
              <a:t>12181F</a:t>
            </a:r>
          </a:p>
        </p:txBody>
      </p:sp>
      <p:sp>
        <p:nvSpPr>
          <p:cNvPr id="15" name="Rectangle 14"/>
          <p:cNvSpPr/>
          <p:nvPr/>
        </p:nvSpPr>
        <p:spPr>
          <a:xfrm>
            <a:off x="2596896" y="2039112"/>
            <a:ext cx="749808" cy="566928"/>
          </a:xfrm>
          <a:prstGeom prst="rect">
            <a:avLst/>
          </a:prstGeom>
          <a:solidFill>
            <a:srgbClr val="1A222C"/>
          </a:solidFill>
          <a:ln w="12700">
            <a:solidFill>
              <a:srgbClr val="2A3441"/>
            </a:solidFill>
          </a:ln>
          <a:effectLst/>
        </p:spPr>
        <p:txBody>
          <a:bodyPr rtlCol="0" anchor="ctr"/>
          <a:lstStyle/>
          <a:p/>
        </p:txBody>
      </p:sp>
      <p:sp>
        <p:nvSpPr>
          <p:cNvPr id="16" name="TextBox 15"/>
          <p:cNvSpPr txBox="1"/>
          <p:nvPr/>
        </p:nvSpPr>
        <p:spPr>
          <a:xfrm>
            <a:off x="2596896" y="2679191"/>
            <a:ext cx="868680" cy="182880"/>
          </a:xfrm>
          <a:prstGeom prst="rect">
            <a:avLst/>
          </a:prstGeom>
          <a:noFill/>
        </p:spPr>
        <p:txBody>
          <a:bodyPr wrap="square" lIns="0" rIns="0" tIns="0" bIns="0" anchor="t">
            <a:spAutoFit/>
          </a:bodyPr>
          <a:lstStyle/>
          <a:p>
            <a:pPr algn="l"/>
            <a:r>
              <a:rPr sz="850" b="0" i="0">
                <a:solidFill>
                  <a:srgbClr val="F2F5F8"/>
                </a:solidFill>
                <a:latin typeface="Consolas"/>
              </a:rPr>
              <a:t>raised</a:t>
            </a:r>
          </a:p>
        </p:txBody>
      </p:sp>
      <p:sp>
        <p:nvSpPr>
          <p:cNvPr id="17" name="TextBox 16"/>
          <p:cNvSpPr txBox="1"/>
          <p:nvPr/>
        </p:nvSpPr>
        <p:spPr>
          <a:xfrm>
            <a:off x="2596896" y="2843784"/>
            <a:ext cx="868680" cy="182880"/>
          </a:xfrm>
          <a:prstGeom prst="rect">
            <a:avLst/>
          </a:prstGeom>
          <a:noFill/>
        </p:spPr>
        <p:txBody>
          <a:bodyPr wrap="square" lIns="0" rIns="0" tIns="0" bIns="0" anchor="t">
            <a:spAutoFit/>
          </a:bodyPr>
          <a:lstStyle/>
          <a:p>
            <a:pPr algn="l"/>
            <a:r>
              <a:rPr sz="700" b="0" i="0">
                <a:solidFill>
                  <a:srgbClr val="93A1B0"/>
                </a:solidFill>
                <a:latin typeface="Consolas"/>
              </a:rPr>
              <a:t>1A222C</a:t>
            </a:r>
          </a:p>
        </p:txBody>
      </p:sp>
      <p:sp>
        <p:nvSpPr>
          <p:cNvPr id="18" name="Rectangle 17"/>
          <p:cNvSpPr/>
          <p:nvPr/>
        </p:nvSpPr>
        <p:spPr>
          <a:xfrm>
            <a:off x="3529584" y="2039112"/>
            <a:ext cx="749808" cy="566928"/>
          </a:xfrm>
          <a:prstGeom prst="rect">
            <a:avLst/>
          </a:prstGeom>
          <a:solidFill>
            <a:srgbClr val="2A3441"/>
          </a:solidFill>
          <a:ln>
            <a:noFill/>
          </a:ln>
          <a:effectLst/>
        </p:spPr>
        <p:txBody>
          <a:bodyPr rtlCol="0" anchor="ctr"/>
          <a:lstStyle/>
          <a:p/>
        </p:txBody>
      </p:sp>
      <p:sp>
        <p:nvSpPr>
          <p:cNvPr id="19" name="TextBox 18"/>
          <p:cNvSpPr txBox="1"/>
          <p:nvPr/>
        </p:nvSpPr>
        <p:spPr>
          <a:xfrm>
            <a:off x="3529584" y="2679191"/>
            <a:ext cx="868680" cy="182880"/>
          </a:xfrm>
          <a:prstGeom prst="rect">
            <a:avLst/>
          </a:prstGeom>
          <a:noFill/>
        </p:spPr>
        <p:txBody>
          <a:bodyPr wrap="square" lIns="0" rIns="0" tIns="0" bIns="0" anchor="t">
            <a:spAutoFit/>
          </a:bodyPr>
          <a:lstStyle/>
          <a:p>
            <a:pPr algn="l"/>
            <a:r>
              <a:rPr sz="850" b="0" i="0">
                <a:solidFill>
                  <a:srgbClr val="F2F5F8"/>
                </a:solidFill>
                <a:latin typeface="Consolas"/>
              </a:rPr>
              <a:t>line</a:t>
            </a:r>
          </a:p>
        </p:txBody>
      </p:sp>
      <p:sp>
        <p:nvSpPr>
          <p:cNvPr id="20" name="TextBox 19"/>
          <p:cNvSpPr txBox="1"/>
          <p:nvPr/>
        </p:nvSpPr>
        <p:spPr>
          <a:xfrm>
            <a:off x="3529584" y="2843784"/>
            <a:ext cx="868680" cy="182880"/>
          </a:xfrm>
          <a:prstGeom prst="rect">
            <a:avLst/>
          </a:prstGeom>
          <a:noFill/>
        </p:spPr>
        <p:txBody>
          <a:bodyPr wrap="square" lIns="0" rIns="0" tIns="0" bIns="0" anchor="t">
            <a:spAutoFit/>
          </a:bodyPr>
          <a:lstStyle/>
          <a:p>
            <a:pPr algn="l"/>
            <a:r>
              <a:rPr sz="700" b="0" i="0">
                <a:solidFill>
                  <a:srgbClr val="93A1B0"/>
                </a:solidFill>
                <a:latin typeface="Consolas"/>
              </a:rPr>
              <a:t>2A3441</a:t>
            </a:r>
          </a:p>
        </p:txBody>
      </p:sp>
      <p:sp>
        <p:nvSpPr>
          <p:cNvPr id="21" name="Rectangle 20"/>
          <p:cNvSpPr/>
          <p:nvPr/>
        </p:nvSpPr>
        <p:spPr>
          <a:xfrm>
            <a:off x="4462272" y="2039112"/>
            <a:ext cx="749808" cy="566928"/>
          </a:xfrm>
          <a:prstGeom prst="rect">
            <a:avLst/>
          </a:prstGeom>
          <a:solidFill>
            <a:srgbClr val="F2F5F8"/>
          </a:solidFill>
          <a:ln>
            <a:noFill/>
          </a:ln>
          <a:effectLst/>
        </p:spPr>
        <p:txBody>
          <a:bodyPr rtlCol="0" anchor="ctr"/>
          <a:lstStyle/>
          <a:p/>
        </p:txBody>
      </p:sp>
      <p:sp>
        <p:nvSpPr>
          <p:cNvPr id="22" name="TextBox 21"/>
          <p:cNvSpPr txBox="1"/>
          <p:nvPr/>
        </p:nvSpPr>
        <p:spPr>
          <a:xfrm>
            <a:off x="4462272" y="2679191"/>
            <a:ext cx="868680" cy="182880"/>
          </a:xfrm>
          <a:prstGeom prst="rect">
            <a:avLst/>
          </a:prstGeom>
          <a:noFill/>
        </p:spPr>
        <p:txBody>
          <a:bodyPr wrap="square" lIns="0" rIns="0" tIns="0" bIns="0" anchor="t">
            <a:spAutoFit/>
          </a:bodyPr>
          <a:lstStyle/>
          <a:p>
            <a:pPr algn="l"/>
            <a:r>
              <a:rPr sz="850" b="0" i="0">
                <a:solidFill>
                  <a:srgbClr val="F2F5F8"/>
                </a:solidFill>
                <a:latin typeface="Consolas"/>
              </a:rPr>
              <a:t>fg</a:t>
            </a:r>
          </a:p>
        </p:txBody>
      </p:sp>
      <p:sp>
        <p:nvSpPr>
          <p:cNvPr id="23" name="TextBox 22"/>
          <p:cNvSpPr txBox="1"/>
          <p:nvPr/>
        </p:nvSpPr>
        <p:spPr>
          <a:xfrm>
            <a:off x="4462272" y="2843784"/>
            <a:ext cx="868680" cy="182880"/>
          </a:xfrm>
          <a:prstGeom prst="rect">
            <a:avLst/>
          </a:prstGeom>
          <a:noFill/>
        </p:spPr>
        <p:txBody>
          <a:bodyPr wrap="square" lIns="0" rIns="0" tIns="0" bIns="0" anchor="t">
            <a:spAutoFit/>
          </a:bodyPr>
          <a:lstStyle/>
          <a:p>
            <a:pPr algn="l"/>
            <a:r>
              <a:rPr sz="700" b="0" i="0">
                <a:solidFill>
                  <a:srgbClr val="93A1B0"/>
                </a:solidFill>
                <a:latin typeface="Consolas"/>
              </a:rPr>
              <a:t>F2F5F8</a:t>
            </a:r>
          </a:p>
        </p:txBody>
      </p:sp>
      <p:sp>
        <p:nvSpPr>
          <p:cNvPr id="24" name="Rectangle 23"/>
          <p:cNvSpPr/>
          <p:nvPr/>
        </p:nvSpPr>
        <p:spPr>
          <a:xfrm>
            <a:off x="5394959" y="2039112"/>
            <a:ext cx="749808" cy="566928"/>
          </a:xfrm>
          <a:prstGeom prst="rect">
            <a:avLst/>
          </a:prstGeom>
          <a:solidFill>
            <a:srgbClr val="93A1B0"/>
          </a:solidFill>
          <a:ln>
            <a:noFill/>
          </a:ln>
          <a:effectLst/>
        </p:spPr>
        <p:txBody>
          <a:bodyPr rtlCol="0" anchor="ctr"/>
          <a:lstStyle/>
          <a:p/>
        </p:txBody>
      </p:sp>
      <p:sp>
        <p:nvSpPr>
          <p:cNvPr id="25" name="TextBox 24"/>
          <p:cNvSpPr txBox="1"/>
          <p:nvPr/>
        </p:nvSpPr>
        <p:spPr>
          <a:xfrm>
            <a:off x="5394959" y="2679191"/>
            <a:ext cx="868680" cy="182880"/>
          </a:xfrm>
          <a:prstGeom prst="rect">
            <a:avLst/>
          </a:prstGeom>
          <a:noFill/>
        </p:spPr>
        <p:txBody>
          <a:bodyPr wrap="square" lIns="0" rIns="0" tIns="0" bIns="0" anchor="t">
            <a:spAutoFit/>
          </a:bodyPr>
          <a:lstStyle/>
          <a:p>
            <a:pPr algn="l"/>
            <a:r>
              <a:rPr sz="850" b="0" i="0">
                <a:solidFill>
                  <a:srgbClr val="F2F5F8"/>
                </a:solidFill>
                <a:latin typeface="Consolas"/>
              </a:rPr>
              <a:t>muted</a:t>
            </a:r>
          </a:p>
        </p:txBody>
      </p:sp>
      <p:sp>
        <p:nvSpPr>
          <p:cNvPr id="26" name="TextBox 25"/>
          <p:cNvSpPr txBox="1"/>
          <p:nvPr/>
        </p:nvSpPr>
        <p:spPr>
          <a:xfrm>
            <a:off x="5394959" y="2843784"/>
            <a:ext cx="868680" cy="182880"/>
          </a:xfrm>
          <a:prstGeom prst="rect">
            <a:avLst/>
          </a:prstGeom>
          <a:noFill/>
        </p:spPr>
        <p:txBody>
          <a:bodyPr wrap="square" lIns="0" rIns="0" tIns="0" bIns="0" anchor="t">
            <a:spAutoFit/>
          </a:bodyPr>
          <a:lstStyle/>
          <a:p>
            <a:pPr algn="l"/>
            <a:r>
              <a:rPr sz="700" b="0" i="0">
                <a:solidFill>
                  <a:srgbClr val="93A1B0"/>
                </a:solidFill>
                <a:latin typeface="Consolas"/>
              </a:rPr>
              <a:t>93A1B0</a:t>
            </a:r>
          </a:p>
        </p:txBody>
      </p:sp>
      <p:sp>
        <p:nvSpPr>
          <p:cNvPr id="27" name="TextBox 26"/>
          <p:cNvSpPr txBox="1"/>
          <p:nvPr/>
        </p:nvSpPr>
        <p:spPr>
          <a:xfrm>
            <a:off x="731520" y="3200400"/>
            <a:ext cx="4572000" cy="237744"/>
          </a:xfrm>
          <a:prstGeom prst="rect">
            <a:avLst/>
          </a:prstGeom>
          <a:noFill/>
        </p:spPr>
        <p:txBody>
          <a:bodyPr wrap="square" lIns="0" rIns="0" tIns="0" bIns="0" anchor="t">
            <a:spAutoFit/>
          </a:bodyPr>
          <a:lstStyle/>
          <a:p>
            <a:pPr algn="l"/>
            <a:r>
              <a:rPr sz="900" b="1" i="0" spc="140">
                <a:solidFill>
                  <a:srgbClr val="93A1B0"/>
                </a:solidFill>
                <a:latin typeface="Segoe UI"/>
              </a:rPr>
              <a:t>CATEGORY COLOR — SEMANTIC ONLY</a:t>
            </a:r>
          </a:p>
        </p:txBody>
      </p:sp>
      <p:sp>
        <p:nvSpPr>
          <p:cNvPr id="28" name="Rectangle 27"/>
          <p:cNvSpPr/>
          <p:nvPr/>
        </p:nvSpPr>
        <p:spPr>
          <a:xfrm>
            <a:off x="731520" y="3520439"/>
            <a:ext cx="219456" cy="219456"/>
          </a:xfrm>
          <a:prstGeom prst="rect">
            <a:avLst/>
          </a:prstGeom>
          <a:solidFill>
            <a:srgbClr val="FF3B1F"/>
          </a:solidFill>
          <a:ln>
            <a:noFill/>
          </a:ln>
          <a:effectLst/>
        </p:spPr>
        <p:txBody>
          <a:bodyPr rtlCol="0" anchor="ctr"/>
          <a:lstStyle/>
          <a:p/>
        </p:txBody>
      </p:sp>
      <p:sp>
        <p:nvSpPr>
          <p:cNvPr id="29" name="TextBox 28"/>
          <p:cNvSpPr txBox="1"/>
          <p:nvPr/>
        </p:nvSpPr>
        <p:spPr>
          <a:xfrm>
            <a:off x="1042416" y="3538728"/>
            <a:ext cx="1005840" cy="201168"/>
          </a:xfrm>
          <a:prstGeom prst="rect">
            <a:avLst/>
          </a:prstGeom>
          <a:noFill/>
        </p:spPr>
        <p:txBody>
          <a:bodyPr wrap="square" lIns="0" rIns="0" tIns="0" bIns="0" anchor="t">
            <a:spAutoFit/>
          </a:bodyPr>
          <a:lstStyle/>
          <a:p>
            <a:pPr algn="l"/>
            <a:r>
              <a:rPr sz="900" b="1" i="0">
                <a:solidFill>
                  <a:srgbClr val="FF3B1F"/>
                </a:solidFill>
                <a:latin typeface="Segoe UI"/>
              </a:rPr>
              <a:t>SUNOG</a:t>
            </a:r>
          </a:p>
        </p:txBody>
      </p:sp>
      <p:sp>
        <p:nvSpPr>
          <p:cNvPr id="30" name="Rectangle 29"/>
          <p:cNvSpPr/>
          <p:nvPr/>
        </p:nvSpPr>
        <p:spPr>
          <a:xfrm>
            <a:off x="2121408" y="3520439"/>
            <a:ext cx="219456" cy="219456"/>
          </a:xfrm>
          <a:prstGeom prst="rect">
            <a:avLst/>
          </a:prstGeom>
          <a:solidFill>
            <a:srgbClr val="00D08A"/>
          </a:solidFill>
          <a:ln>
            <a:noFill/>
          </a:ln>
          <a:effectLst/>
        </p:spPr>
        <p:txBody>
          <a:bodyPr rtlCol="0" anchor="ctr"/>
          <a:lstStyle/>
          <a:p/>
        </p:txBody>
      </p:sp>
      <p:sp>
        <p:nvSpPr>
          <p:cNvPr id="31" name="TextBox 30"/>
          <p:cNvSpPr txBox="1"/>
          <p:nvPr/>
        </p:nvSpPr>
        <p:spPr>
          <a:xfrm>
            <a:off x="2432304" y="3538728"/>
            <a:ext cx="1005840" cy="201168"/>
          </a:xfrm>
          <a:prstGeom prst="rect">
            <a:avLst/>
          </a:prstGeom>
          <a:noFill/>
        </p:spPr>
        <p:txBody>
          <a:bodyPr wrap="square" lIns="0" rIns="0" tIns="0" bIns="0" anchor="t">
            <a:spAutoFit/>
          </a:bodyPr>
          <a:lstStyle/>
          <a:p>
            <a:pPr algn="l"/>
            <a:r>
              <a:rPr sz="900" b="1" i="0">
                <a:solidFill>
                  <a:srgbClr val="00D08A"/>
                </a:solidFill>
                <a:latin typeface="Segoe UI"/>
              </a:rPr>
              <a:t>MEDIKAL</a:t>
            </a:r>
          </a:p>
        </p:txBody>
      </p:sp>
      <p:sp>
        <p:nvSpPr>
          <p:cNvPr id="32" name="Rectangle 31"/>
          <p:cNvSpPr/>
          <p:nvPr/>
        </p:nvSpPr>
        <p:spPr>
          <a:xfrm>
            <a:off x="3511296" y="3520439"/>
            <a:ext cx="219456" cy="219456"/>
          </a:xfrm>
          <a:prstGeom prst="rect">
            <a:avLst/>
          </a:prstGeom>
          <a:solidFill>
            <a:srgbClr val="FFC53D"/>
          </a:solidFill>
          <a:ln>
            <a:noFill/>
          </a:ln>
          <a:effectLst/>
        </p:spPr>
        <p:txBody>
          <a:bodyPr rtlCol="0" anchor="ctr"/>
          <a:lstStyle/>
          <a:p/>
        </p:txBody>
      </p:sp>
      <p:sp>
        <p:nvSpPr>
          <p:cNvPr id="33" name="TextBox 32"/>
          <p:cNvSpPr txBox="1"/>
          <p:nvPr/>
        </p:nvSpPr>
        <p:spPr>
          <a:xfrm>
            <a:off x="3822191" y="3538728"/>
            <a:ext cx="1005840" cy="201168"/>
          </a:xfrm>
          <a:prstGeom prst="rect">
            <a:avLst/>
          </a:prstGeom>
          <a:noFill/>
        </p:spPr>
        <p:txBody>
          <a:bodyPr wrap="square" lIns="0" rIns="0" tIns="0" bIns="0" anchor="t">
            <a:spAutoFit/>
          </a:bodyPr>
          <a:lstStyle/>
          <a:p>
            <a:pPr algn="l"/>
            <a:r>
              <a:rPr sz="900" b="1" i="0">
                <a:solidFill>
                  <a:srgbClr val="FFC53D"/>
                </a:solidFill>
                <a:latin typeface="Segoe UI"/>
              </a:rPr>
              <a:t>KRIMEN</a:t>
            </a:r>
          </a:p>
        </p:txBody>
      </p:sp>
      <p:sp>
        <p:nvSpPr>
          <p:cNvPr id="34" name="Rectangle 33"/>
          <p:cNvSpPr/>
          <p:nvPr/>
        </p:nvSpPr>
        <p:spPr>
          <a:xfrm>
            <a:off x="4901184" y="3520439"/>
            <a:ext cx="219456" cy="219456"/>
          </a:xfrm>
          <a:prstGeom prst="rect">
            <a:avLst/>
          </a:prstGeom>
          <a:solidFill>
            <a:srgbClr val="4CC2FF"/>
          </a:solidFill>
          <a:ln>
            <a:noFill/>
          </a:ln>
          <a:effectLst/>
        </p:spPr>
        <p:txBody>
          <a:bodyPr rtlCol="0" anchor="ctr"/>
          <a:lstStyle/>
          <a:p/>
        </p:txBody>
      </p:sp>
      <p:sp>
        <p:nvSpPr>
          <p:cNvPr id="35" name="TextBox 34"/>
          <p:cNvSpPr txBox="1"/>
          <p:nvPr/>
        </p:nvSpPr>
        <p:spPr>
          <a:xfrm>
            <a:off x="5212080" y="3538728"/>
            <a:ext cx="1005840" cy="201168"/>
          </a:xfrm>
          <a:prstGeom prst="rect">
            <a:avLst/>
          </a:prstGeom>
          <a:noFill/>
        </p:spPr>
        <p:txBody>
          <a:bodyPr wrap="square" lIns="0" rIns="0" tIns="0" bIns="0" anchor="t">
            <a:spAutoFit/>
          </a:bodyPr>
          <a:lstStyle/>
          <a:p>
            <a:pPr algn="l"/>
            <a:r>
              <a:rPr sz="900" b="1" i="0">
                <a:solidFill>
                  <a:srgbClr val="4CC2FF"/>
                </a:solidFill>
                <a:latin typeface="Segoe UI"/>
              </a:rPr>
              <a:t>BAHA</a:t>
            </a:r>
          </a:p>
        </p:txBody>
      </p:sp>
      <p:sp>
        <p:nvSpPr>
          <p:cNvPr id="36" name="TextBox 35"/>
          <p:cNvSpPr txBox="1"/>
          <p:nvPr/>
        </p:nvSpPr>
        <p:spPr>
          <a:xfrm>
            <a:off x="731520" y="4160520"/>
            <a:ext cx="4937760" cy="1737360"/>
          </a:xfrm>
          <a:prstGeom prst="rect">
            <a:avLst/>
          </a:prstGeom>
          <a:noFill/>
        </p:spPr>
        <p:txBody>
          <a:bodyPr wrap="square" lIns="0" rIns="0" tIns="0" bIns="0" anchor="t">
            <a:spAutoFit/>
          </a:bodyPr>
          <a:lstStyle/>
          <a:p>
            <a:pPr algn="l">
              <a:lnSpc>
                <a:spcPct val="140000"/>
              </a:lnSpc>
            </a:pPr>
            <a:r>
              <a:rPr sz="1200" b="0" i="0">
                <a:solidFill>
                  <a:srgbClr val="93A1B0"/>
                </a:solidFill>
                <a:latin typeface="Segoe UI"/>
              </a:rPr>
              <a:t>System font stack, radius 0–4 px, no shadows. Color appears on badges, markers and borders — nowhere else. Body text holds WCAG AA contrast against the dark surface.</a:t>
            </a:r>
          </a:p>
        </p:txBody>
      </p:sp>
      <p:sp>
        <p:nvSpPr>
          <p:cNvPr id="37" name="Rectangle 36"/>
          <p:cNvSpPr/>
          <p:nvPr/>
        </p:nvSpPr>
        <p:spPr>
          <a:xfrm>
            <a:off x="5989320" y="1783080"/>
            <a:ext cx="5470855" cy="1874519"/>
          </a:xfrm>
          <a:prstGeom prst="rect">
            <a:avLst/>
          </a:prstGeom>
          <a:solidFill>
            <a:srgbClr val="12181F"/>
          </a:solidFill>
          <a:ln w="12700">
            <a:solidFill>
              <a:srgbClr val="2A3441"/>
            </a:solidFill>
          </a:ln>
          <a:effectLst/>
        </p:spPr>
        <p:txBody>
          <a:bodyPr rtlCol="0" anchor="ctr"/>
          <a:lstStyle/>
          <a:p/>
        </p:txBody>
      </p:sp>
      <p:sp>
        <p:nvSpPr>
          <p:cNvPr id="38" name="TextBox 37"/>
          <p:cNvSpPr txBox="1"/>
          <p:nvPr/>
        </p:nvSpPr>
        <p:spPr>
          <a:xfrm>
            <a:off x="6245352" y="1984248"/>
            <a:ext cx="4937760" cy="237744"/>
          </a:xfrm>
          <a:prstGeom prst="rect">
            <a:avLst/>
          </a:prstGeom>
          <a:noFill/>
        </p:spPr>
        <p:txBody>
          <a:bodyPr wrap="square" lIns="0" rIns="0" tIns="0" bIns="0" anchor="t">
            <a:spAutoFit/>
          </a:bodyPr>
          <a:lstStyle/>
          <a:p>
            <a:pPr algn="l"/>
            <a:r>
              <a:rPr sz="900" b="1" i="0" spc="160">
                <a:solidFill>
                  <a:srgbClr val="FF3B1F"/>
                </a:solidFill>
                <a:latin typeface="Segoe UI"/>
              </a:rPr>
              <a:t>BANNED</a:t>
            </a:r>
          </a:p>
        </p:txBody>
      </p:sp>
      <p:sp>
        <p:nvSpPr>
          <p:cNvPr id="39" name="TextBox 38"/>
          <p:cNvSpPr txBox="1"/>
          <p:nvPr/>
        </p:nvSpPr>
        <p:spPr>
          <a:xfrm>
            <a:off x="6245352" y="2331720"/>
            <a:ext cx="5029200" cy="1188720"/>
          </a:xfrm>
          <a:prstGeom prst="rect">
            <a:avLst/>
          </a:prstGeom>
          <a:noFill/>
        </p:spPr>
        <p:txBody>
          <a:bodyPr wrap="square" lIns="0" rIns="0" tIns="0" bIns="0" anchor="t">
            <a:spAutoFit/>
          </a:bodyPr>
          <a:lstStyle/>
          <a:p>
            <a:pPr algn="l">
              <a:lnSpc>
                <a:spcPct val="145000"/>
              </a:lnSpc>
            </a:pPr>
            <a:r>
              <a:rPr sz="1200" b="0" i="0">
                <a:solidFill>
                  <a:srgbClr val="F2F5F8"/>
                </a:solidFill>
                <a:latin typeface="Segoe UI"/>
              </a:rPr>
              <a:t>Gradients · glass and blur · glow and neon halos · bounce and parallax · emoji as icons · mascots · decorative shadows · rounded-everything SaaS styling.</a:t>
            </a:r>
          </a:p>
        </p:txBody>
      </p:sp>
      <p:sp>
        <p:nvSpPr>
          <p:cNvPr id="40" name="Rectangle 39"/>
          <p:cNvSpPr/>
          <p:nvPr/>
        </p:nvSpPr>
        <p:spPr>
          <a:xfrm>
            <a:off x="5989320" y="3840480"/>
            <a:ext cx="5470855" cy="1874519"/>
          </a:xfrm>
          <a:prstGeom prst="rect">
            <a:avLst/>
          </a:prstGeom>
          <a:solidFill>
            <a:srgbClr val="12181F"/>
          </a:solidFill>
          <a:ln w="12700">
            <a:solidFill>
              <a:srgbClr val="2A3441"/>
            </a:solidFill>
          </a:ln>
          <a:effectLst/>
        </p:spPr>
        <p:txBody>
          <a:bodyPr rtlCol="0" anchor="ctr"/>
          <a:lstStyle/>
          <a:p/>
        </p:txBody>
      </p:sp>
      <p:sp>
        <p:nvSpPr>
          <p:cNvPr id="41" name="TextBox 40"/>
          <p:cNvSpPr txBox="1"/>
          <p:nvPr/>
        </p:nvSpPr>
        <p:spPr>
          <a:xfrm>
            <a:off x="6245352" y="4041648"/>
            <a:ext cx="4937760" cy="237744"/>
          </a:xfrm>
          <a:prstGeom prst="rect">
            <a:avLst/>
          </a:prstGeom>
          <a:noFill/>
        </p:spPr>
        <p:txBody>
          <a:bodyPr wrap="square" lIns="0" rIns="0" tIns="0" bIns="0" anchor="t">
            <a:spAutoFit/>
          </a:bodyPr>
          <a:lstStyle/>
          <a:p>
            <a:pPr algn="l"/>
            <a:r>
              <a:rPr sz="900" b="1" i="0" spc="160">
                <a:solidFill>
                  <a:srgbClr val="00D08A"/>
                </a:solidFill>
                <a:latin typeface="Segoe UI"/>
              </a:rPr>
              <a:t>REQUIRED</a:t>
            </a:r>
          </a:p>
        </p:txBody>
      </p:sp>
      <p:sp>
        <p:nvSpPr>
          <p:cNvPr id="42" name="TextBox 41"/>
          <p:cNvSpPr txBox="1"/>
          <p:nvPr/>
        </p:nvSpPr>
        <p:spPr>
          <a:xfrm>
            <a:off x="6245352" y="4389120"/>
            <a:ext cx="5029200" cy="1188720"/>
          </a:xfrm>
          <a:prstGeom prst="rect">
            <a:avLst/>
          </a:prstGeom>
          <a:noFill/>
        </p:spPr>
        <p:txBody>
          <a:bodyPr wrap="square" lIns="0" rIns="0" tIns="0" bIns="0" anchor="t">
            <a:spAutoFit/>
          </a:bodyPr>
          <a:lstStyle/>
          <a:p>
            <a:pPr algn="l">
              <a:lnSpc>
                <a:spcPct val="145000"/>
              </a:lnSpc>
            </a:pPr>
            <a:r>
              <a:rPr sz="1200" b="0" i="0">
                <a:solidFill>
                  <a:srgbClr val="F2F5F8"/>
                </a:solidFill>
                <a:latin typeface="Segoe UI"/>
              </a:rPr>
              <a:t>One primary action per screen · hierarchy by size and weight · tap targets ≥ 48 dp · 100–150 ms opacity transitions only · every control has an accessible label.</a:t>
            </a:r>
          </a:p>
        </p:txBody>
      </p:sp>
      <p:sp>
        <p:nvSpPr>
          <p:cNvPr id="43" name="TextBox 42"/>
          <p:cNvSpPr txBox="1"/>
          <p:nvPr/>
        </p:nvSpPr>
        <p:spPr>
          <a:xfrm>
            <a:off x="731520" y="5806440"/>
            <a:ext cx="10728655" cy="320040"/>
          </a:xfrm>
          <a:prstGeom prst="rect">
            <a:avLst/>
          </a:prstGeom>
          <a:noFill/>
        </p:spPr>
        <p:txBody>
          <a:bodyPr wrap="square" lIns="0" rIns="0" tIns="0" bIns="0" anchor="t">
            <a:spAutoFit/>
          </a:bodyPr>
          <a:lstStyle/>
          <a:p>
            <a:pPr algn="l"/>
            <a:r>
              <a:rPr sz="1100" b="0" i="0">
                <a:solidFill>
                  <a:srgbClr val="93A1B0"/>
                </a:solidFill>
                <a:latin typeface="Segoe UI"/>
              </a:rPr>
              <a:t>Tokens live in packages/tailwind-config and are consumed by both apps — no ad-hoc hex in components.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08  ·  SECURITY</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Location is treated as health data.</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09 / 14</a:t>
            </a:r>
          </a:p>
        </p:txBody>
      </p:sp>
      <p:sp>
        <p:nvSpPr>
          <p:cNvPr id="8" name="Rectangle 7"/>
          <p:cNvSpPr/>
          <p:nvPr/>
        </p:nvSpPr>
        <p:spPr>
          <a:xfrm>
            <a:off x="731520" y="1828800"/>
            <a:ext cx="5227167" cy="1444752"/>
          </a:xfrm>
          <a:prstGeom prst="rect">
            <a:avLst/>
          </a:prstGeom>
          <a:solidFill>
            <a:srgbClr val="12181F"/>
          </a:solidFill>
          <a:ln w="12700">
            <a:solidFill>
              <a:srgbClr val="2A3441"/>
            </a:solidFill>
          </a:ln>
          <a:effectLst/>
        </p:spPr>
        <p:txBody>
          <a:bodyPr rtlCol="0" anchor="ctr"/>
          <a:lstStyle/>
          <a:p/>
        </p:txBody>
      </p:sp>
      <p:sp>
        <p:nvSpPr>
          <p:cNvPr id="9" name="Rectangle 8"/>
          <p:cNvSpPr/>
          <p:nvPr/>
        </p:nvSpPr>
        <p:spPr>
          <a:xfrm>
            <a:off x="731520" y="1828800"/>
            <a:ext cx="45720" cy="1444752"/>
          </a:xfrm>
          <a:prstGeom prst="rect">
            <a:avLst/>
          </a:prstGeom>
          <a:solidFill>
            <a:srgbClr val="00D08A"/>
          </a:solidFill>
          <a:ln>
            <a:noFill/>
          </a:ln>
          <a:effectLst/>
        </p:spPr>
        <p:txBody>
          <a:bodyPr rtlCol="0" anchor="ctr"/>
          <a:lstStyle/>
          <a:p/>
        </p:txBody>
      </p:sp>
      <p:sp>
        <p:nvSpPr>
          <p:cNvPr id="10" name="TextBox 9"/>
          <p:cNvSpPr txBox="1"/>
          <p:nvPr/>
        </p:nvSpPr>
        <p:spPr>
          <a:xfrm>
            <a:off x="1024128" y="2048256"/>
            <a:ext cx="4678527" cy="292608"/>
          </a:xfrm>
          <a:prstGeom prst="rect">
            <a:avLst/>
          </a:prstGeom>
          <a:noFill/>
        </p:spPr>
        <p:txBody>
          <a:bodyPr wrap="square" lIns="0" rIns="0" tIns="0" bIns="0" anchor="t">
            <a:spAutoFit/>
          </a:bodyPr>
          <a:lstStyle/>
          <a:p>
            <a:pPr algn="l"/>
            <a:r>
              <a:rPr sz="1450" b="1" i="0">
                <a:solidFill>
                  <a:srgbClr val="F2F5F8"/>
                </a:solidFill>
                <a:latin typeface="Segoe UI"/>
              </a:rPr>
              <a:t>Zero PII by construction</a:t>
            </a:r>
          </a:p>
        </p:txBody>
      </p:sp>
      <p:sp>
        <p:nvSpPr>
          <p:cNvPr id="11" name="TextBox 10"/>
          <p:cNvSpPr txBox="1"/>
          <p:nvPr/>
        </p:nvSpPr>
        <p:spPr>
          <a:xfrm>
            <a:off x="1024128" y="2450592"/>
            <a:ext cx="4660239" cy="731520"/>
          </a:xfrm>
          <a:prstGeom prst="rect">
            <a:avLst/>
          </a:prstGeom>
          <a:noFill/>
        </p:spPr>
        <p:txBody>
          <a:bodyPr wrap="square" lIns="0" rIns="0" tIns="0" bIns="0" anchor="t">
            <a:spAutoFit/>
          </a:bodyPr>
          <a:lstStyle/>
          <a:p>
            <a:pPr algn="l">
              <a:lnSpc>
                <a:spcPct val="138000"/>
              </a:lnSpc>
            </a:pPr>
            <a:r>
              <a:rPr sz="1150" b="0" i="0">
                <a:solidFill>
                  <a:srgbClr val="93A1B0"/>
                </a:solidFill>
                <a:latin typeface="Segoe UI"/>
              </a:rPr>
              <a:t>The payload carries a category and 4 dp coordinates. No accounts, no contacts, no trackers, no free text.</a:t>
            </a:r>
          </a:p>
        </p:txBody>
      </p:sp>
      <p:sp>
        <p:nvSpPr>
          <p:cNvPr id="12" name="Rectangle 11"/>
          <p:cNvSpPr/>
          <p:nvPr/>
        </p:nvSpPr>
        <p:spPr>
          <a:xfrm>
            <a:off x="6233007" y="1828800"/>
            <a:ext cx="5227167" cy="1444752"/>
          </a:xfrm>
          <a:prstGeom prst="rect">
            <a:avLst/>
          </a:prstGeom>
          <a:solidFill>
            <a:srgbClr val="12181F"/>
          </a:solidFill>
          <a:ln w="12700">
            <a:solidFill>
              <a:srgbClr val="2A3441"/>
            </a:solidFill>
          </a:ln>
          <a:effectLst/>
        </p:spPr>
        <p:txBody>
          <a:bodyPr rtlCol="0" anchor="ctr"/>
          <a:lstStyle/>
          <a:p/>
        </p:txBody>
      </p:sp>
      <p:sp>
        <p:nvSpPr>
          <p:cNvPr id="13" name="Rectangle 12"/>
          <p:cNvSpPr/>
          <p:nvPr/>
        </p:nvSpPr>
        <p:spPr>
          <a:xfrm>
            <a:off x="6233007" y="1828800"/>
            <a:ext cx="45720" cy="1444752"/>
          </a:xfrm>
          <a:prstGeom prst="rect">
            <a:avLst/>
          </a:prstGeom>
          <a:solidFill>
            <a:srgbClr val="4CC2FF"/>
          </a:solidFill>
          <a:ln>
            <a:noFill/>
          </a:ln>
          <a:effectLst/>
        </p:spPr>
        <p:txBody>
          <a:bodyPr rtlCol="0" anchor="ctr"/>
          <a:lstStyle/>
          <a:p/>
        </p:txBody>
      </p:sp>
      <p:sp>
        <p:nvSpPr>
          <p:cNvPr id="14" name="TextBox 13"/>
          <p:cNvSpPr txBox="1"/>
          <p:nvPr/>
        </p:nvSpPr>
        <p:spPr>
          <a:xfrm>
            <a:off x="6525615" y="2048256"/>
            <a:ext cx="4678527" cy="292608"/>
          </a:xfrm>
          <a:prstGeom prst="rect">
            <a:avLst/>
          </a:prstGeom>
          <a:noFill/>
        </p:spPr>
        <p:txBody>
          <a:bodyPr wrap="square" lIns="0" rIns="0" tIns="0" bIns="0" anchor="t">
            <a:spAutoFit/>
          </a:bodyPr>
          <a:lstStyle/>
          <a:p>
            <a:pPr algn="l"/>
            <a:r>
              <a:rPr sz="1450" b="1" i="0">
                <a:solidFill>
                  <a:srgbClr val="F2F5F8"/>
                </a:solidFill>
                <a:latin typeface="Segoe UI"/>
              </a:rPr>
              <a:t>Validate every boundary</a:t>
            </a:r>
          </a:p>
        </p:txBody>
      </p:sp>
      <p:sp>
        <p:nvSpPr>
          <p:cNvPr id="15" name="TextBox 14"/>
          <p:cNvSpPr txBox="1"/>
          <p:nvPr/>
        </p:nvSpPr>
        <p:spPr>
          <a:xfrm>
            <a:off x="6525615" y="2450592"/>
            <a:ext cx="4660239" cy="731520"/>
          </a:xfrm>
          <a:prstGeom prst="rect">
            <a:avLst/>
          </a:prstGeom>
          <a:noFill/>
        </p:spPr>
        <p:txBody>
          <a:bodyPr wrap="square" lIns="0" rIns="0" tIns="0" bIns="0" anchor="t">
            <a:spAutoFit/>
          </a:bodyPr>
          <a:lstStyle/>
          <a:p>
            <a:pPr algn="l">
              <a:lnSpc>
                <a:spcPct val="138000"/>
              </a:lnSpc>
            </a:pPr>
            <a:r>
              <a:rPr sz="1150" b="0" i="0">
                <a:solidFill>
                  <a:srgbClr val="93A1B0"/>
                </a:solidFill>
                <a:latin typeface="Segoe UI"/>
              </a:rPr>
              <a:t>Closed enum plus parseSosPayload() on the server. Malformed JSON, unknown category or out-of-range coordinates → 400.</a:t>
            </a:r>
          </a:p>
        </p:txBody>
      </p:sp>
      <p:sp>
        <p:nvSpPr>
          <p:cNvPr id="16" name="Rectangle 15"/>
          <p:cNvSpPr/>
          <p:nvPr/>
        </p:nvSpPr>
        <p:spPr>
          <a:xfrm>
            <a:off x="731520" y="3547872"/>
            <a:ext cx="5227167" cy="1444752"/>
          </a:xfrm>
          <a:prstGeom prst="rect">
            <a:avLst/>
          </a:prstGeom>
          <a:solidFill>
            <a:srgbClr val="12181F"/>
          </a:solidFill>
          <a:ln w="12700">
            <a:solidFill>
              <a:srgbClr val="2A3441"/>
            </a:solidFill>
          </a:ln>
          <a:effectLst/>
        </p:spPr>
        <p:txBody>
          <a:bodyPr rtlCol="0" anchor="ctr"/>
          <a:lstStyle/>
          <a:p/>
        </p:txBody>
      </p:sp>
      <p:sp>
        <p:nvSpPr>
          <p:cNvPr id="17" name="Rectangle 16"/>
          <p:cNvSpPr/>
          <p:nvPr/>
        </p:nvSpPr>
        <p:spPr>
          <a:xfrm>
            <a:off x="731520" y="3547872"/>
            <a:ext cx="45720" cy="1444752"/>
          </a:xfrm>
          <a:prstGeom prst="rect">
            <a:avLst/>
          </a:prstGeom>
          <a:solidFill>
            <a:srgbClr val="FFC53D"/>
          </a:solidFill>
          <a:ln>
            <a:noFill/>
          </a:ln>
          <a:effectLst/>
        </p:spPr>
        <p:txBody>
          <a:bodyPr rtlCol="0" anchor="ctr"/>
          <a:lstStyle/>
          <a:p/>
        </p:txBody>
      </p:sp>
      <p:sp>
        <p:nvSpPr>
          <p:cNvPr id="18" name="TextBox 17"/>
          <p:cNvSpPr txBox="1"/>
          <p:nvPr/>
        </p:nvSpPr>
        <p:spPr>
          <a:xfrm>
            <a:off x="1024128" y="3767328"/>
            <a:ext cx="4678527" cy="292608"/>
          </a:xfrm>
          <a:prstGeom prst="rect">
            <a:avLst/>
          </a:prstGeom>
          <a:noFill/>
        </p:spPr>
        <p:txBody>
          <a:bodyPr wrap="square" lIns="0" rIns="0" tIns="0" bIns="0" anchor="t">
            <a:spAutoFit/>
          </a:bodyPr>
          <a:lstStyle/>
          <a:p>
            <a:pPr algn="l"/>
            <a:r>
              <a:rPr sz="1450" b="1" i="0">
                <a:solidFill>
                  <a:srgbClr val="F2F5F8"/>
                </a:solidFill>
                <a:latin typeface="Segoe UI"/>
              </a:rPr>
              <a:t>Deny-by-default RBAC</a:t>
            </a:r>
          </a:p>
        </p:txBody>
      </p:sp>
      <p:sp>
        <p:nvSpPr>
          <p:cNvPr id="19" name="TextBox 18"/>
          <p:cNvSpPr txBox="1"/>
          <p:nvPr/>
        </p:nvSpPr>
        <p:spPr>
          <a:xfrm>
            <a:off x="1024128" y="4169663"/>
            <a:ext cx="4660239" cy="731520"/>
          </a:xfrm>
          <a:prstGeom prst="rect">
            <a:avLst/>
          </a:prstGeom>
          <a:noFill/>
        </p:spPr>
        <p:txBody>
          <a:bodyPr wrap="square" lIns="0" rIns="0" tIns="0" bIns="0" anchor="t">
            <a:spAutoFit/>
          </a:bodyPr>
          <a:lstStyle/>
          <a:p>
            <a:pPr algn="l">
              <a:lnSpc>
                <a:spcPct val="138000"/>
              </a:lnSpc>
            </a:pPr>
            <a:r>
              <a:rPr sz="1150" b="0" i="0">
                <a:solidFill>
                  <a:srgbClr val="93A1B0"/>
                </a:solidFill>
                <a:latin typeface="Segoe UI"/>
              </a:rPr>
              <a:t>CITIZEN · UNIT · DISPATCHER · ADMIN, all checked server-side. Every assignment writes an audit event with no coordinates.</a:t>
            </a:r>
          </a:p>
        </p:txBody>
      </p:sp>
      <p:sp>
        <p:nvSpPr>
          <p:cNvPr id="20" name="Rectangle 19"/>
          <p:cNvSpPr/>
          <p:nvPr/>
        </p:nvSpPr>
        <p:spPr>
          <a:xfrm>
            <a:off x="6233007" y="3547872"/>
            <a:ext cx="5227167" cy="1444752"/>
          </a:xfrm>
          <a:prstGeom prst="rect">
            <a:avLst/>
          </a:prstGeom>
          <a:solidFill>
            <a:srgbClr val="12181F"/>
          </a:solidFill>
          <a:ln w="12700">
            <a:solidFill>
              <a:srgbClr val="2A3441"/>
            </a:solidFill>
          </a:ln>
          <a:effectLst/>
        </p:spPr>
        <p:txBody>
          <a:bodyPr rtlCol="0" anchor="ctr"/>
          <a:lstStyle/>
          <a:p/>
        </p:txBody>
      </p:sp>
      <p:sp>
        <p:nvSpPr>
          <p:cNvPr id="21" name="Rectangle 20"/>
          <p:cNvSpPr/>
          <p:nvPr/>
        </p:nvSpPr>
        <p:spPr>
          <a:xfrm>
            <a:off x="6233007" y="3547872"/>
            <a:ext cx="45720" cy="1444752"/>
          </a:xfrm>
          <a:prstGeom prst="rect">
            <a:avLst/>
          </a:prstGeom>
          <a:solidFill>
            <a:srgbClr val="FF3B1F"/>
          </a:solidFill>
          <a:ln>
            <a:noFill/>
          </a:ln>
          <a:effectLst/>
        </p:spPr>
        <p:txBody>
          <a:bodyPr rtlCol="0" anchor="ctr"/>
          <a:lstStyle/>
          <a:p/>
        </p:txBody>
      </p:sp>
      <p:sp>
        <p:nvSpPr>
          <p:cNvPr id="22" name="TextBox 21"/>
          <p:cNvSpPr txBox="1"/>
          <p:nvPr/>
        </p:nvSpPr>
        <p:spPr>
          <a:xfrm>
            <a:off x="6525615" y="3767328"/>
            <a:ext cx="4678527" cy="292608"/>
          </a:xfrm>
          <a:prstGeom prst="rect">
            <a:avLst/>
          </a:prstGeom>
          <a:noFill/>
        </p:spPr>
        <p:txBody>
          <a:bodyPr wrap="square" lIns="0" rIns="0" tIns="0" bIns="0" anchor="t">
            <a:spAutoFit/>
          </a:bodyPr>
          <a:lstStyle/>
          <a:p>
            <a:pPr algn="l"/>
            <a:r>
              <a:rPr sz="1450" b="1" i="0">
                <a:solidFill>
                  <a:srgbClr val="F2F5F8"/>
                </a:solidFill>
                <a:latin typeface="Segoe UI"/>
              </a:rPr>
              <a:t>TLS now, hardened mesh next</a:t>
            </a:r>
          </a:p>
        </p:txBody>
      </p:sp>
      <p:sp>
        <p:nvSpPr>
          <p:cNvPr id="23" name="TextBox 22"/>
          <p:cNvSpPr txBox="1"/>
          <p:nvPr/>
        </p:nvSpPr>
        <p:spPr>
          <a:xfrm>
            <a:off x="6525615" y="4169663"/>
            <a:ext cx="4660239" cy="731520"/>
          </a:xfrm>
          <a:prstGeom prst="rect">
            <a:avLst/>
          </a:prstGeom>
          <a:noFill/>
        </p:spPr>
        <p:txBody>
          <a:bodyPr wrap="square" lIns="0" rIns="0" tIns="0" bIns="0" anchor="t">
            <a:spAutoFit/>
          </a:bodyPr>
          <a:lstStyle/>
          <a:p>
            <a:pPr algn="l">
              <a:lnSpc>
                <a:spcPct val="138000"/>
              </a:lnSpc>
            </a:pPr>
            <a:r>
              <a:rPr sz="1150" b="0" i="0">
                <a:solidFill>
                  <a:srgbClr val="93A1B0"/>
                </a:solidFill>
                <a:latin typeface="Segoe UI"/>
              </a:rPr>
              <a:t>HTTPS only for the console and API. Future mesh frames use AES-256-GCM with a rolling nonce and replay suppression.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09  ·  STACK</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A monorepo with one source of truth.</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10 / 14</a:t>
            </a:r>
          </a:p>
        </p:txBody>
      </p:sp>
      <p:sp>
        <p:nvSpPr>
          <p:cNvPr id="8" name="Rectangle 7"/>
          <p:cNvSpPr/>
          <p:nvPr/>
        </p:nvSpPr>
        <p:spPr>
          <a:xfrm>
            <a:off x="731520" y="1783080"/>
            <a:ext cx="3977639" cy="868680"/>
          </a:xfrm>
          <a:prstGeom prst="rect">
            <a:avLst/>
          </a:prstGeom>
          <a:solidFill>
            <a:srgbClr val="12181F"/>
          </a:solidFill>
          <a:ln w="12700">
            <a:solidFill>
              <a:srgbClr val="4CC2FF"/>
            </a:solidFill>
          </a:ln>
          <a:effectLst/>
        </p:spPr>
        <p:txBody>
          <a:bodyPr rtlCol="0" anchor="ctr"/>
          <a:lstStyle/>
          <a:p/>
        </p:txBody>
      </p:sp>
      <p:sp>
        <p:nvSpPr>
          <p:cNvPr id="9" name="TextBox 8"/>
          <p:cNvSpPr txBox="1"/>
          <p:nvPr/>
        </p:nvSpPr>
        <p:spPr>
          <a:xfrm>
            <a:off x="932688" y="1965960"/>
            <a:ext cx="3575303" cy="274320"/>
          </a:xfrm>
          <a:prstGeom prst="rect">
            <a:avLst/>
          </a:prstGeom>
          <a:noFill/>
        </p:spPr>
        <p:txBody>
          <a:bodyPr wrap="square" lIns="0" rIns="0" tIns="0" bIns="0" anchor="t">
            <a:spAutoFit/>
          </a:bodyPr>
          <a:lstStyle/>
          <a:p>
            <a:pPr algn="l"/>
            <a:r>
              <a:rPr sz="1250" b="1" i="0">
                <a:solidFill>
                  <a:srgbClr val="F2F5F8"/>
                </a:solidFill>
                <a:latin typeface="Segoe UI"/>
              </a:rPr>
              <a:t>apps/web</a:t>
            </a:r>
          </a:p>
        </p:txBody>
      </p:sp>
      <p:sp>
        <p:nvSpPr>
          <p:cNvPr id="10" name="TextBox 9"/>
          <p:cNvSpPr txBox="1"/>
          <p:nvPr/>
        </p:nvSpPr>
        <p:spPr>
          <a:xfrm>
            <a:off x="932688" y="2258568"/>
            <a:ext cx="3575303" cy="274320"/>
          </a:xfrm>
          <a:prstGeom prst="rect">
            <a:avLst/>
          </a:prstGeom>
          <a:noFill/>
        </p:spPr>
        <p:txBody>
          <a:bodyPr wrap="square" lIns="0" rIns="0" tIns="0" bIns="0" anchor="t">
            <a:spAutoFit/>
          </a:bodyPr>
          <a:lstStyle/>
          <a:p>
            <a:pPr algn="l"/>
            <a:r>
              <a:rPr sz="1000" b="0" i="0">
                <a:solidFill>
                  <a:srgbClr val="93A1B0"/>
                </a:solidFill>
                <a:latin typeface="Segoe UI"/>
              </a:rPr>
              <a:t>Next.js 16 · MapLibre · responder console</a:t>
            </a:r>
          </a:p>
        </p:txBody>
      </p:sp>
      <p:sp>
        <p:nvSpPr>
          <p:cNvPr id="11" name="Rectangle 10"/>
          <p:cNvSpPr/>
          <p:nvPr/>
        </p:nvSpPr>
        <p:spPr>
          <a:xfrm>
            <a:off x="4892040" y="1783080"/>
            <a:ext cx="3977639" cy="868680"/>
          </a:xfrm>
          <a:prstGeom prst="rect">
            <a:avLst/>
          </a:prstGeom>
          <a:solidFill>
            <a:srgbClr val="12181F"/>
          </a:solidFill>
          <a:ln w="12700">
            <a:solidFill>
              <a:srgbClr val="00D08A"/>
            </a:solidFill>
          </a:ln>
          <a:effectLst/>
        </p:spPr>
        <p:txBody>
          <a:bodyPr rtlCol="0" anchor="ctr"/>
          <a:lstStyle/>
          <a:p/>
        </p:txBody>
      </p:sp>
      <p:sp>
        <p:nvSpPr>
          <p:cNvPr id="12" name="TextBox 11"/>
          <p:cNvSpPr txBox="1"/>
          <p:nvPr/>
        </p:nvSpPr>
        <p:spPr>
          <a:xfrm>
            <a:off x="5093207" y="1965960"/>
            <a:ext cx="3575303" cy="274320"/>
          </a:xfrm>
          <a:prstGeom prst="rect">
            <a:avLst/>
          </a:prstGeom>
          <a:noFill/>
        </p:spPr>
        <p:txBody>
          <a:bodyPr wrap="square" lIns="0" rIns="0" tIns="0" bIns="0" anchor="t">
            <a:spAutoFit/>
          </a:bodyPr>
          <a:lstStyle/>
          <a:p>
            <a:pPr algn="l"/>
            <a:r>
              <a:rPr sz="1250" b="1" i="0">
                <a:solidFill>
                  <a:srgbClr val="F2F5F8"/>
                </a:solidFill>
                <a:latin typeface="Segoe UI"/>
              </a:rPr>
              <a:t>apps/mobile</a:t>
            </a:r>
          </a:p>
        </p:txBody>
      </p:sp>
      <p:sp>
        <p:nvSpPr>
          <p:cNvPr id="13" name="TextBox 12"/>
          <p:cNvSpPr txBox="1"/>
          <p:nvPr/>
        </p:nvSpPr>
        <p:spPr>
          <a:xfrm>
            <a:off x="5093207" y="2258568"/>
            <a:ext cx="3575303" cy="274320"/>
          </a:xfrm>
          <a:prstGeom prst="rect">
            <a:avLst/>
          </a:prstGeom>
          <a:noFill/>
        </p:spPr>
        <p:txBody>
          <a:bodyPr wrap="square" lIns="0" rIns="0" tIns="0" bIns="0" anchor="t">
            <a:spAutoFit/>
          </a:bodyPr>
          <a:lstStyle/>
          <a:p>
            <a:pPr algn="l"/>
            <a:r>
              <a:rPr sz="1000" b="0" i="0">
                <a:solidFill>
                  <a:srgbClr val="93A1B0"/>
                </a:solidFill>
                <a:latin typeface="Segoe UI"/>
              </a:rPr>
              <a:t>Expo 58 · NativeWind · citizen app</a:t>
            </a:r>
          </a:p>
        </p:txBody>
      </p:sp>
      <p:sp>
        <p:nvSpPr>
          <p:cNvPr id="14" name="Down Arrow 13"/>
          <p:cNvSpPr/>
          <p:nvPr/>
        </p:nvSpPr>
        <p:spPr>
          <a:xfrm>
            <a:off x="2148840" y="2852928"/>
            <a:ext cx="146304" cy="411480"/>
          </a:xfrm>
          <a:prstGeom prst="downArrow">
            <a:avLst/>
          </a:prstGeom>
          <a:solidFill>
            <a:srgbClr val="2A3441"/>
          </a:solidFill>
          <a:ln>
            <a:noFill/>
          </a:ln>
          <a:effectLst/>
        </p:spPr>
        <p:txBody>
          <a:bodyPr rtlCol="0" anchor="ctr"/>
          <a:lstStyle/>
          <a:p/>
        </p:txBody>
      </p:sp>
      <p:sp>
        <p:nvSpPr>
          <p:cNvPr id="15" name="Down Arrow 14"/>
          <p:cNvSpPr/>
          <p:nvPr/>
        </p:nvSpPr>
        <p:spPr>
          <a:xfrm>
            <a:off x="6858000" y="2852928"/>
            <a:ext cx="146304" cy="411480"/>
          </a:xfrm>
          <a:prstGeom prst="downArrow">
            <a:avLst/>
          </a:prstGeom>
          <a:solidFill>
            <a:srgbClr val="2A3441"/>
          </a:solidFill>
          <a:ln>
            <a:noFill/>
          </a:ln>
          <a:effectLst/>
        </p:spPr>
        <p:txBody>
          <a:bodyPr rtlCol="0" anchor="ctr"/>
          <a:lstStyle/>
          <a:p/>
        </p:txBody>
      </p:sp>
      <p:sp>
        <p:nvSpPr>
          <p:cNvPr id="16" name="Rectangle 15"/>
          <p:cNvSpPr/>
          <p:nvPr/>
        </p:nvSpPr>
        <p:spPr>
          <a:xfrm>
            <a:off x="731520" y="3364992"/>
            <a:ext cx="8366760" cy="868680"/>
          </a:xfrm>
          <a:prstGeom prst="rect">
            <a:avLst/>
          </a:prstGeom>
          <a:solidFill>
            <a:srgbClr val="12181F"/>
          </a:solidFill>
          <a:ln w="12700">
            <a:solidFill>
              <a:srgbClr val="FFC53D"/>
            </a:solidFill>
          </a:ln>
          <a:effectLst/>
        </p:spPr>
        <p:txBody>
          <a:bodyPr rtlCol="0" anchor="ctr"/>
          <a:lstStyle/>
          <a:p/>
        </p:txBody>
      </p:sp>
      <p:sp>
        <p:nvSpPr>
          <p:cNvPr id="17" name="TextBox 16"/>
          <p:cNvSpPr txBox="1"/>
          <p:nvPr/>
        </p:nvSpPr>
        <p:spPr>
          <a:xfrm>
            <a:off x="932688" y="3547872"/>
            <a:ext cx="7964424" cy="274320"/>
          </a:xfrm>
          <a:prstGeom prst="rect">
            <a:avLst/>
          </a:prstGeom>
          <a:noFill/>
        </p:spPr>
        <p:txBody>
          <a:bodyPr wrap="square" lIns="0" rIns="0" tIns="0" bIns="0" anchor="t">
            <a:spAutoFit/>
          </a:bodyPr>
          <a:lstStyle/>
          <a:p>
            <a:pPr algn="l"/>
            <a:r>
              <a:rPr sz="1250" b="1" i="0">
                <a:solidFill>
                  <a:srgbClr val="F2F5F8"/>
                </a:solidFill>
                <a:latin typeface="Segoe UI"/>
              </a:rPr>
              <a:t>packages/ui</a:t>
            </a:r>
          </a:p>
        </p:txBody>
      </p:sp>
      <p:sp>
        <p:nvSpPr>
          <p:cNvPr id="18" name="TextBox 17"/>
          <p:cNvSpPr txBox="1"/>
          <p:nvPr/>
        </p:nvSpPr>
        <p:spPr>
          <a:xfrm>
            <a:off x="932688" y="3840480"/>
            <a:ext cx="7964424" cy="274320"/>
          </a:xfrm>
          <a:prstGeom prst="rect">
            <a:avLst/>
          </a:prstGeom>
          <a:noFill/>
        </p:spPr>
        <p:txBody>
          <a:bodyPr wrap="square" lIns="0" rIns="0" tIns="0" bIns="0" anchor="t">
            <a:spAutoFit/>
          </a:bodyPr>
          <a:lstStyle/>
          <a:p>
            <a:pPr algn="l"/>
            <a:r>
              <a:rPr sz="1000" b="0" i="0">
                <a:solidFill>
                  <a:srgbClr val="93A1B0"/>
                </a:solidFill>
                <a:latin typeface="Segoe UI"/>
              </a:rPr>
              <a:t>categories · buildSosPayload / parseSosPayload · shared web components</a:t>
            </a:r>
          </a:p>
        </p:txBody>
      </p:sp>
      <p:sp>
        <p:nvSpPr>
          <p:cNvPr id="19" name="Rectangle 18"/>
          <p:cNvSpPr/>
          <p:nvPr/>
        </p:nvSpPr>
        <p:spPr>
          <a:xfrm>
            <a:off x="731520" y="4553712"/>
            <a:ext cx="3977639" cy="777240"/>
          </a:xfrm>
          <a:prstGeom prst="rect">
            <a:avLst/>
          </a:prstGeom>
          <a:solidFill>
            <a:srgbClr val="12181F"/>
          </a:solidFill>
          <a:ln w="12700">
            <a:solidFill>
              <a:srgbClr val="2A3441"/>
            </a:solidFill>
          </a:ln>
          <a:effectLst/>
        </p:spPr>
        <p:txBody>
          <a:bodyPr rtlCol="0" anchor="ctr"/>
          <a:lstStyle/>
          <a:p/>
        </p:txBody>
      </p:sp>
      <p:sp>
        <p:nvSpPr>
          <p:cNvPr id="20" name="TextBox 19"/>
          <p:cNvSpPr txBox="1"/>
          <p:nvPr/>
        </p:nvSpPr>
        <p:spPr>
          <a:xfrm>
            <a:off x="932688" y="4736592"/>
            <a:ext cx="3575303" cy="274320"/>
          </a:xfrm>
          <a:prstGeom prst="rect">
            <a:avLst/>
          </a:prstGeom>
          <a:noFill/>
        </p:spPr>
        <p:txBody>
          <a:bodyPr wrap="square" lIns="0" rIns="0" tIns="0" bIns="0" anchor="t">
            <a:spAutoFit/>
          </a:bodyPr>
          <a:lstStyle/>
          <a:p>
            <a:pPr algn="l"/>
            <a:r>
              <a:rPr sz="1250" b="1" i="0">
                <a:solidFill>
                  <a:srgbClr val="F2F5F8"/>
                </a:solidFill>
                <a:latin typeface="Segoe UI"/>
              </a:rPr>
              <a:t>packages/tailwind-config</a:t>
            </a:r>
          </a:p>
        </p:txBody>
      </p:sp>
      <p:sp>
        <p:nvSpPr>
          <p:cNvPr id="21" name="TextBox 20"/>
          <p:cNvSpPr txBox="1"/>
          <p:nvPr/>
        </p:nvSpPr>
        <p:spPr>
          <a:xfrm>
            <a:off x="932688" y="5029200"/>
            <a:ext cx="3575303" cy="274320"/>
          </a:xfrm>
          <a:prstGeom prst="rect">
            <a:avLst/>
          </a:prstGeom>
          <a:noFill/>
        </p:spPr>
        <p:txBody>
          <a:bodyPr wrap="square" lIns="0" rIns="0" tIns="0" bIns="0" anchor="t">
            <a:spAutoFit/>
          </a:bodyPr>
          <a:lstStyle/>
          <a:p>
            <a:pPr algn="l"/>
            <a:r>
              <a:rPr sz="1000" b="0" i="0">
                <a:solidFill>
                  <a:srgbClr val="93A1B0"/>
                </a:solidFill>
                <a:latin typeface="Segoe UI"/>
              </a:rPr>
              <a:t>the single shared token preset</a:t>
            </a:r>
          </a:p>
        </p:txBody>
      </p:sp>
      <p:sp>
        <p:nvSpPr>
          <p:cNvPr id="22" name="Rectangle 21"/>
          <p:cNvSpPr/>
          <p:nvPr/>
        </p:nvSpPr>
        <p:spPr>
          <a:xfrm>
            <a:off x="4892040" y="4553712"/>
            <a:ext cx="3977639" cy="777240"/>
          </a:xfrm>
          <a:prstGeom prst="rect">
            <a:avLst/>
          </a:prstGeom>
          <a:solidFill>
            <a:srgbClr val="12181F"/>
          </a:solidFill>
          <a:ln w="12700">
            <a:solidFill>
              <a:srgbClr val="2A3441"/>
            </a:solidFill>
          </a:ln>
          <a:effectLst/>
        </p:spPr>
        <p:txBody>
          <a:bodyPr rtlCol="0" anchor="ctr"/>
          <a:lstStyle/>
          <a:p/>
        </p:txBody>
      </p:sp>
      <p:sp>
        <p:nvSpPr>
          <p:cNvPr id="23" name="TextBox 22"/>
          <p:cNvSpPr txBox="1"/>
          <p:nvPr/>
        </p:nvSpPr>
        <p:spPr>
          <a:xfrm>
            <a:off x="5093207" y="4736592"/>
            <a:ext cx="3575303" cy="274320"/>
          </a:xfrm>
          <a:prstGeom prst="rect">
            <a:avLst/>
          </a:prstGeom>
          <a:noFill/>
        </p:spPr>
        <p:txBody>
          <a:bodyPr wrap="square" lIns="0" rIns="0" tIns="0" bIns="0" anchor="t">
            <a:spAutoFit/>
          </a:bodyPr>
          <a:lstStyle/>
          <a:p>
            <a:pPr algn="l"/>
            <a:r>
              <a:rPr sz="1250" b="1" i="0">
                <a:solidFill>
                  <a:srgbClr val="F2F5F8"/>
                </a:solidFill>
                <a:latin typeface="Segoe UI"/>
              </a:rPr>
              <a:t>packages/typescript-config</a:t>
            </a:r>
          </a:p>
        </p:txBody>
      </p:sp>
      <p:sp>
        <p:nvSpPr>
          <p:cNvPr id="24" name="TextBox 23"/>
          <p:cNvSpPr txBox="1"/>
          <p:nvPr/>
        </p:nvSpPr>
        <p:spPr>
          <a:xfrm>
            <a:off x="5093207" y="5029200"/>
            <a:ext cx="3575303" cy="274320"/>
          </a:xfrm>
          <a:prstGeom prst="rect">
            <a:avLst/>
          </a:prstGeom>
          <a:noFill/>
        </p:spPr>
        <p:txBody>
          <a:bodyPr wrap="square" lIns="0" rIns="0" tIns="0" bIns="0" anchor="t">
            <a:spAutoFit/>
          </a:bodyPr>
          <a:lstStyle/>
          <a:p>
            <a:pPr algn="l"/>
            <a:r>
              <a:rPr sz="1000" b="0" i="0">
                <a:solidFill>
                  <a:srgbClr val="93A1B0"/>
                </a:solidFill>
                <a:latin typeface="Segoe UI"/>
              </a:rPr>
              <a:t>strict tsconfig bases</a:t>
            </a:r>
          </a:p>
        </p:txBody>
      </p:sp>
      <p:sp>
        <p:nvSpPr>
          <p:cNvPr id="25" name="Down Arrow 24"/>
          <p:cNvSpPr/>
          <p:nvPr/>
        </p:nvSpPr>
        <p:spPr>
          <a:xfrm>
            <a:off x="2148840" y="4325112"/>
            <a:ext cx="146304" cy="201168"/>
          </a:xfrm>
          <a:prstGeom prst="downArrow">
            <a:avLst/>
          </a:prstGeom>
          <a:solidFill>
            <a:srgbClr val="2A3441"/>
          </a:solidFill>
          <a:ln>
            <a:noFill/>
          </a:ln>
          <a:effectLst/>
        </p:spPr>
        <p:txBody>
          <a:bodyPr rtlCol="0" anchor="ctr"/>
          <a:lstStyle/>
          <a:p/>
        </p:txBody>
      </p:sp>
      <p:sp>
        <p:nvSpPr>
          <p:cNvPr id="26" name="Down Arrow 25"/>
          <p:cNvSpPr/>
          <p:nvPr/>
        </p:nvSpPr>
        <p:spPr>
          <a:xfrm>
            <a:off x="6858000" y="4325112"/>
            <a:ext cx="146304" cy="201168"/>
          </a:xfrm>
          <a:prstGeom prst="downArrow">
            <a:avLst/>
          </a:prstGeom>
          <a:solidFill>
            <a:srgbClr val="2A3441"/>
          </a:solidFill>
          <a:ln>
            <a:noFill/>
          </a:ln>
          <a:effectLst/>
        </p:spPr>
        <p:txBody>
          <a:bodyPr rtlCol="0" anchor="ctr"/>
          <a:lstStyle/>
          <a:p/>
        </p:txBody>
      </p:sp>
      <p:sp>
        <p:nvSpPr>
          <p:cNvPr id="27" name="Rectangle 26"/>
          <p:cNvSpPr/>
          <p:nvPr/>
        </p:nvSpPr>
        <p:spPr>
          <a:xfrm>
            <a:off x="9372600" y="1783080"/>
            <a:ext cx="2057400" cy="1783080"/>
          </a:xfrm>
          <a:prstGeom prst="rect">
            <a:avLst/>
          </a:prstGeom>
          <a:noFill/>
          <a:ln w="12700">
            <a:solidFill>
              <a:srgbClr val="2A3441"/>
            </a:solidFill>
            <a:prstDash val="dash"/>
          </a:ln>
          <a:effectLst/>
        </p:spPr>
        <p:txBody>
          <a:bodyPr rtlCol="0" anchor="ctr"/>
          <a:lstStyle/>
          <a:p/>
        </p:txBody>
      </p:sp>
      <p:sp>
        <p:nvSpPr>
          <p:cNvPr id="28" name="TextBox 27"/>
          <p:cNvSpPr txBox="1"/>
          <p:nvPr/>
        </p:nvSpPr>
        <p:spPr>
          <a:xfrm>
            <a:off x="9582912" y="1965960"/>
            <a:ext cx="1691640" cy="274320"/>
          </a:xfrm>
          <a:prstGeom prst="rect">
            <a:avLst/>
          </a:prstGeom>
          <a:noFill/>
        </p:spPr>
        <p:txBody>
          <a:bodyPr wrap="square" lIns="0" rIns="0" tIns="0" bIns="0" anchor="t">
            <a:spAutoFit/>
          </a:bodyPr>
          <a:lstStyle/>
          <a:p>
            <a:pPr algn="l"/>
            <a:r>
              <a:rPr sz="1100" b="1" i="0">
                <a:solidFill>
                  <a:srgbClr val="93A1B0"/>
                </a:solidFill>
                <a:latin typeface="Segoe UI"/>
              </a:rPr>
              <a:t>packages/db</a:t>
            </a:r>
          </a:p>
        </p:txBody>
      </p:sp>
      <p:sp>
        <p:nvSpPr>
          <p:cNvPr id="29" name="TextBox 28"/>
          <p:cNvSpPr txBox="1"/>
          <p:nvPr/>
        </p:nvSpPr>
        <p:spPr>
          <a:xfrm>
            <a:off x="9582912" y="2295144"/>
            <a:ext cx="1691640" cy="1097280"/>
          </a:xfrm>
          <a:prstGeom prst="rect">
            <a:avLst/>
          </a:prstGeom>
          <a:noFill/>
        </p:spPr>
        <p:txBody>
          <a:bodyPr wrap="square" lIns="0" rIns="0" tIns="0" bIns="0" anchor="t">
            <a:spAutoFit/>
          </a:bodyPr>
          <a:lstStyle/>
          <a:p>
            <a:pPr algn="l">
              <a:lnSpc>
                <a:spcPct val="135000"/>
              </a:lnSpc>
            </a:pPr>
            <a:r>
              <a:rPr sz="950" b="0" i="0">
                <a:solidFill>
                  <a:srgbClr val="93A1B0"/>
                </a:solidFill>
                <a:latin typeface="Segoe UI"/>
              </a:rPr>
              <a:t>Prisma + PostgreSQL schema, modelled for RBAC.</a:t>
            </a:r>
          </a:p>
          <a:p>
            <a:pPr algn="l">
              <a:lnSpc>
                <a:spcPct val="135000"/>
              </a:lnSpc>
            </a:pPr>
            <a:r>
              <a:rPr sz="950" b="0" i="0">
                <a:solidFill>
                  <a:srgbClr val="93A1B0"/>
                </a:solidFill>
                <a:latin typeface="Segoe UI"/>
              </a:rPr>
              <a:t/>
            </a:r>
          </a:p>
          <a:p>
            <a:pPr algn="l">
              <a:lnSpc>
                <a:spcPct val="135000"/>
              </a:lnSpc>
            </a:pPr>
            <a:r>
              <a:rPr sz="950" b="0" i="0">
                <a:solidFill>
                  <a:srgbClr val="93A1B0"/>
                </a:solidFill>
                <a:latin typeface="Segoe UI"/>
              </a:rPr>
              <a:t>Not wired up.</a:t>
            </a:r>
          </a:p>
        </p:txBody>
      </p:sp>
      <p:sp>
        <p:nvSpPr>
          <p:cNvPr id="30" name="Rectangle 29"/>
          <p:cNvSpPr/>
          <p:nvPr/>
        </p:nvSpPr>
        <p:spPr>
          <a:xfrm>
            <a:off x="731520" y="5669280"/>
            <a:ext cx="10728655" cy="10058"/>
          </a:xfrm>
          <a:prstGeom prst="rect">
            <a:avLst/>
          </a:prstGeom>
          <a:solidFill>
            <a:srgbClr val="2A3441"/>
          </a:solidFill>
          <a:ln>
            <a:noFill/>
          </a:ln>
          <a:effectLst/>
        </p:spPr>
        <p:txBody>
          <a:bodyPr rtlCol="0" anchor="ctr"/>
          <a:lstStyle/>
          <a:p/>
        </p:txBody>
      </p:sp>
      <p:sp>
        <p:nvSpPr>
          <p:cNvPr id="31" name="TextBox 30"/>
          <p:cNvSpPr txBox="1"/>
          <p:nvPr/>
        </p:nvSpPr>
        <p:spPr>
          <a:xfrm>
            <a:off x="731520" y="5852160"/>
            <a:ext cx="10728655" cy="274320"/>
          </a:xfrm>
          <a:prstGeom prst="rect">
            <a:avLst/>
          </a:prstGeom>
          <a:noFill/>
        </p:spPr>
        <p:txBody>
          <a:bodyPr wrap="square" lIns="0" rIns="0" tIns="0" bIns="0" anchor="t">
            <a:spAutoFit/>
          </a:bodyPr>
          <a:lstStyle/>
          <a:p>
            <a:pPr algn="l"/>
            <a:r>
              <a:rPr sz="1050" b="0" i="0">
                <a:solidFill>
                  <a:srgbClr val="93A1B0"/>
                </a:solidFill>
                <a:latin typeface="Consolas"/>
              </a:rPr>
              <a:t>Node 24  ·  pnpm 12 workspaces  ·  TypeScript 5.9 strict  ·  Vitest 5 + jest-expo 58  ·  Turborepo 2.11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10  ·  THE PIVOT</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There is no AI in AIRA. That is the feature.</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11 / 14</a:t>
            </a:r>
          </a:p>
        </p:txBody>
      </p:sp>
      <p:sp>
        <p:nvSpPr>
          <p:cNvPr id="8" name="TextBox 7"/>
          <p:cNvSpPr txBox="1"/>
          <p:nvPr/>
        </p:nvSpPr>
        <p:spPr>
          <a:xfrm>
            <a:off x="731520" y="1737360"/>
            <a:ext cx="4754880" cy="237744"/>
          </a:xfrm>
          <a:prstGeom prst="rect">
            <a:avLst/>
          </a:prstGeom>
          <a:noFill/>
        </p:spPr>
        <p:txBody>
          <a:bodyPr wrap="square" lIns="0" rIns="0" tIns="0" bIns="0" anchor="t">
            <a:spAutoFit/>
          </a:bodyPr>
          <a:lstStyle/>
          <a:p>
            <a:pPr algn="l"/>
            <a:r>
              <a:rPr sz="900" b="1" i="0" spc="140">
                <a:solidFill>
                  <a:srgbClr val="93A1B0"/>
                </a:solidFill>
                <a:latin typeface="Segoe UI"/>
              </a:rPr>
              <a:t>REMOVED ON 2026-10-21</a:t>
            </a:r>
          </a:p>
        </p:txBody>
      </p:sp>
      <p:sp>
        <p:nvSpPr>
          <p:cNvPr id="9" name="TextBox 8"/>
          <p:cNvSpPr txBox="1"/>
          <p:nvPr/>
        </p:nvSpPr>
        <p:spPr>
          <a:xfrm>
            <a:off x="731520" y="2075688"/>
            <a:ext cx="4572000" cy="2651760"/>
          </a:xfrm>
          <a:prstGeom prst="rect">
            <a:avLst/>
          </a:prstGeom>
          <a:noFill/>
        </p:spPr>
        <p:txBody>
          <a:bodyPr wrap="square" lIns="0" rIns="0" tIns="0" bIns="0">
            <a:spAutoFit/>
          </a:bodyPr>
          <a:lstStyle/>
          <a:p>
            <a:pPr marL="256032" indent="-256032">
              <a:lnSpc>
                <a:spcPct val="128000"/>
              </a:lnSpc>
              <a:spcAft>
                <a:spcPts val="1200"/>
              </a:spcAft>
              <a:buClr>
                <a:srgbClr val="4C5A6A"/>
              </a:buClr>
              <a:buFont typeface="Arial"/>
              <a:buChar char="—"/>
            </a:pPr>
            <a:r>
              <a:rPr sz="1300">
                <a:solidFill>
                  <a:srgbClr val="F2F5F8"/>
                </a:solidFill>
                <a:latin typeface="Segoe UI"/>
              </a:rPr>
              <a:t>Microphone capture, recording, speech-to-text.</a:t>
            </a:r>
          </a:p>
          <a:p>
            <a:pPr marL="256032" indent="-256032">
              <a:lnSpc>
                <a:spcPct val="128000"/>
              </a:lnSpc>
              <a:spcAft>
                <a:spcPts val="1200"/>
              </a:spcAft>
              <a:buClr>
                <a:srgbClr val="4C5A6A"/>
              </a:buClr>
              <a:buFont typeface="Arial"/>
              <a:buChar char="—"/>
            </a:pPr>
            <a:r>
              <a:rPr sz="1300">
                <a:solidFill>
                  <a:srgbClr val="F2F5F8"/>
                </a:solidFill>
                <a:latin typeface="Segoe UI"/>
              </a:rPr>
              <a:t>Chat bubbles, threads, conversational UI.</a:t>
            </a:r>
          </a:p>
          <a:p>
            <a:pPr marL="256032" indent="-256032">
              <a:lnSpc>
                <a:spcPct val="128000"/>
              </a:lnSpc>
              <a:spcAft>
                <a:spcPts val="1200"/>
              </a:spcAft>
              <a:buClr>
                <a:srgbClr val="4C5A6A"/>
              </a:buClr>
              <a:buFont typeface="Arial"/>
              <a:buChar char="—"/>
            </a:pPr>
            <a:r>
              <a:rPr sz="1300">
                <a:solidFill>
                  <a:srgbClr val="F2F5F8"/>
                </a:solidFill>
                <a:latin typeface="Segoe UI"/>
              </a:rPr>
              <a:t>AI assistants, mascots, avatars, smart replies.</a:t>
            </a:r>
          </a:p>
          <a:p>
            <a:pPr marL="256032" indent="-256032">
              <a:lnSpc>
                <a:spcPct val="128000"/>
              </a:lnSpc>
              <a:spcAft>
                <a:spcPts val="1200"/>
              </a:spcAft>
              <a:buClr>
                <a:srgbClr val="4C5A6A"/>
              </a:buClr>
              <a:buFont typeface="Arial"/>
              <a:buChar char="—"/>
            </a:pPr>
            <a:r>
              <a:rPr sz="1300">
                <a:solidFill>
                  <a:srgbClr val="F2F5F8"/>
                </a:solidFill>
                <a:latin typeface="Segoe UI"/>
              </a:rPr>
              <a:t>On-device LLMs, embeddings, RAG, prompt pipelines.</a:t>
            </a:r>
          </a:p>
        </p:txBody>
      </p:sp>
      <p:sp>
        <p:nvSpPr>
          <p:cNvPr id="10" name="TextBox 9"/>
          <p:cNvSpPr txBox="1"/>
          <p:nvPr/>
        </p:nvSpPr>
        <p:spPr>
          <a:xfrm>
            <a:off x="5989320" y="1737360"/>
            <a:ext cx="4572000" cy="237744"/>
          </a:xfrm>
          <a:prstGeom prst="rect">
            <a:avLst/>
          </a:prstGeom>
          <a:noFill/>
        </p:spPr>
        <p:txBody>
          <a:bodyPr wrap="square" lIns="0" rIns="0" tIns="0" bIns="0" anchor="t">
            <a:spAutoFit/>
          </a:bodyPr>
          <a:lstStyle/>
          <a:p>
            <a:pPr algn="l"/>
            <a:r>
              <a:rPr sz="900" b="1" i="0" spc="140">
                <a:solidFill>
                  <a:srgbClr val="93A1B0"/>
                </a:solidFill>
                <a:latin typeface="Segoe UI"/>
              </a:rPr>
              <a:t>WHY</a:t>
            </a:r>
          </a:p>
        </p:txBody>
      </p:sp>
      <p:sp>
        <p:nvSpPr>
          <p:cNvPr id="11" name="TextBox 10"/>
          <p:cNvSpPr txBox="1"/>
          <p:nvPr/>
        </p:nvSpPr>
        <p:spPr>
          <a:xfrm>
            <a:off x="5989320" y="2075688"/>
            <a:ext cx="5470855" cy="2651760"/>
          </a:xfrm>
          <a:prstGeom prst="rect">
            <a:avLst/>
          </a:prstGeom>
          <a:noFill/>
        </p:spPr>
        <p:txBody>
          <a:bodyPr wrap="square" lIns="0" rIns="0" tIns="0" bIns="0">
            <a:spAutoFit/>
          </a:bodyPr>
          <a:lstStyle/>
          <a:p>
            <a:pPr marL="256032" indent="-256032">
              <a:lnSpc>
                <a:spcPct val="128000"/>
              </a:lnSpc>
              <a:spcAft>
                <a:spcPts val="1400"/>
              </a:spcAft>
              <a:buClr>
                <a:srgbClr val="4C5A6A"/>
              </a:buClr>
              <a:buFont typeface="Arial"/>
              <a:buChar char="—"/>
            </a:pPr>
            <a:r>
              <a:rPr sz="1300">
                <a:solidFill>
                  <a:srgbClr val="F2F5F8"/>
                </a:solidFill>
                <a:latin typeface="Segoe UI"/>
              </a:rPr>
              <a:t>Under 30 MB: no speech models, no tokenizer or LLM weights.</a:t>
            </a:r>
          </a:p>
          <a:p>
            <a:pPr marL="256032" indent="-256032">
              <a:lnSpc>
                <a:spcPct val="128000"/>
              </a:lnSpc>
              <a:spcAft>
                <a:spcPts val="1400"/>
              </a:spcAft>
              <a:buClr>
                <a:srgbClr val="4C5A6A"/>
              </a:buClr>
              <a:buFont typeface="Arial"/>
              <a:buChar char="—"/>
            </a:pPr>
            <a:r>
              <a:rPr sz="1300">
                <a:solidFill>
                  <a:srgbClr val="F2F5F8"/>
                </a:solidFill>
                <a:latin typeface="Segoe UI"/>
              </a:rPr>
              <a:t>Flawless on low-end Android: no audio pipeline, no inference.</a:t>
            </a:r>
          </a:p>
          <a:p>
            <a:pPr marL="256032" indent="-256032">
              <a:lnSpc>
                <a:spcPct val="128000"/>
              </a:lnSpc>
              <a:spcAft>
                <a:spcPts val="1400"/>
              </a:spcAft>
              <a:buClr>
                <a:srgbClr val="4C5A6A"/>
              </a:buClr>
              <a:buFont typeface="Arial"/>
              <a:buChar char="—"/>
            </a:pPr>
            <a:r>
              <a:rPr sz="1300">
                <a:solidFill>
                  <a:srgbClr val="F2F5F8"/>
                </a:solidFill>
                <a:latin typeface="Segoe UI"/>
              </a:rPr>
              <a:t>No reliable offline Cebuano STT exists — and an unreliable voice path in an emergency is worse than none.</a:t>
            </a:r>
          </a:p>
        </p:txBody>
      </p:sp>
      <p:sp>
        <p:nvSpPr>
          <p:cNvPr id="12" name="TextBox 11"/>
          <p:cNvSpPr txBox="1"/>
          <p:nvPr/>
        </p:nvSpPr>
        <p:spPr>
          <a:xfrm>
            <a:off x="731520" y="3913632"/>
            <a:ext cx="3657600" cy="219456"/>
          </a:xfrm>
          <a:prstGeom prst="rect">
            <a:avLst/>
          </a:prstGeom>
          <a:noFill/>
        </p:spPr>
        <p:txBody>
          <a:bodyPr wrap="square" lIns="0" rIns="0" tIns="0" bIns="0" anchor="t">
            <a:spAutoFit/>
          </a:bodyPr>
          <a:lstStyle/>
          <a:p>
            <a:pPr algn="l"/>
            <a:r>
              <a:rPr sz="900" b="1" i="0" spc="160">
                <a:solidFill>
                  <a:srgbClr val="93A1B0"/>
                </a:solidFill>
                <a:latin typeface="Segoe UI"/>
              </a:rPr>
              <a:t>REPLACED BY</a:t>
            </a:r>
          </a:p>
        </p:txBody>
      </p:sp>
      <p:sp>
        <p:nvSpPr>
          <p:cNvPr id="13" name="TextBox 12"/>
          <p:cNvSpPr txBox="1"/>
          <p:nvPr/>
        </p:nvSpPr>
        <p:spPr>
          <a:xfrm>
            <a:off x="731520" y="4206240"/>
            <a:ext cx="10728655" cy="384048"/>
          </a:xfrm>
          <a:prstGeom prst="rect">
            <a:avLst/>
          </a:prstGeom>
          <a:noFill/>
        </p:spPr>
        <p:txBody>
          <a:bodyPr wrap="square" lIns="0" rIns="0" tIns="0" bIns="0" anchor="t">
            <a:spAutoFit/>
          </a:bodyPr>
          <a:lstStyle/>
          <a:p>
            <a:pPr algn="l"/>
            <a:r>
              <a:rPr sz="1650" b="1" i="0">
                <a:solidFill>
                  <a:srgbClr val="F2F5F8"/>
                </a:solidFill>
                <a:latin typeface="Segoe UI"/>
              </a:rPr>
              <a:t>A hyper-localized Bisaya button grid — no microphone, no model, no latency.</a:t>
            </a:r>
          </a:p>
        </p:txBody>
      </p:sp>
      <p:sp>
        <p:nvSpPr>
          <p:cNvPr id="14" name="Rectangle 13"/>
          <p:cNvSpPr/>
          <p:nvPr/>
        </p:nvSpPr>
        <p:spPr>
          <a:xfrm>
            <a:off x="731520" y="4709160"/>
            <a:ext cx="10728655" cy="960120"/>
          </a:xfrm>
          <a:prstGeom prst="rect">
            <a:avLst/>
          </a:prstGeom>
          <a:solidFill>
            <a:srgbClr val="12181F"/>
          </a:solidFill>
          <a:ln w="12700">
            <a:solidFill>
              <a:srgbClr val="2A3441"/>
            </a:solidFill>
          </a:ln>
          <a:effectLst/>
        </p:spPr>
        <p:txBody>
          <a:bodyPr rtlCol="0" anchor="ctr"/>
          <a:lstStyle/>
          <a:p/>
        </p:txBody>
      </p:sp>
      <p:sp>
        <p:nvSpPr>
          <p:cNvPr id="15" name="Rectangle 14"/>
          <p:cNvSpPr/>
          <p:nvPr/>
        </p:nvSpPr>
        <p:spPr>
          <a:xfrm>
            <a:off x="731520" y="4709160"/>
            <a:ext cx="45720" cy="960120"/>
          </a:xfrm>
          <a:prstGeom prst="rect">
            <a:avLst/>
          </a:prstGeom>
          <a:solidFill>
            <a:srgbClr val="00D08A"/>
          </a:solidFill>
          <a:ln>
            <a:noFill/>
          </a:ln>
          <a:effectLst/>
        </p:spPr>
        <p:txBody>
          <a:bodyPr rtlCol="0" anchor="ctr"/>
          <a:lstStyle/>
          <a:p/>
        </p:txBody>
      </p:sp>
      <p:sp>
        <p:nvSpPr>
          <p:cNvPr id="16" name="TextBox 15"/>
          <p:cNvSpPr txBox="1"/>
          <p:nvPr/>
        </p:nvSpPr>
        <p:spPr>
          <a:xfrm>
            <a:off x="1024128" y="4892040"/>
            <a:ext cx="10088575" cy="640080"/>
          </a:xfrm>
          <a:prstGeom prst="rect">
            <a:avLst/>
          </a:prstGeom>
          <a:noFill/>
        </p:spPr>
        <p:txBody>
          <a:bodyPr wrap="square" lIns="0" rIns="0" tIns="0" bIns="0" anchor="t">
            <a:spAutoFit/>
          </a:bodyPr>
          <a:lstStyle/>
          <a:p>
            <a:pPr algn="l">
              <a:lnSpc>
                <a:spcPct val="140000"/>
              </a:lnSpc>
            </a:pPr>
            <a:r>
              <a:rPr sz="1250" b="0" i="0">
                <a:solidFill>
                  <a:srgbClr val="F2F5F8"/>
                </a:solidFill>
                <a:latin typeface="Segoe UI"/>
              </a:rPr>
              <a:t>Reintroducing any of it requires a written revision of PRODUCT.md plus a security review —</a:t>
            </a:r>
          </a:p>
          <a:p>
            <a:pPr algn="l">
              <a:lnSpc>
                <a:spcPct val="140000"/>
              </a:lnSpc>
            </a:pPr>
            <a:r>
              <a:rPr sz="1250" b="0" i="0">
                <a:solidFill>
                  <a:srgbClr val="F2F5F8"/>
                </a:solidFill>
                <a:latin typeface="Segoe UI"/>
              </a:rPr>
              <a:t>the removed surface is deleted at the architecture level, not merely hidden.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11  ·  ENGINEERING</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Tests are the spec, not the follow-up.</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12 / 14</a:t>
            </a:r>
          </a:p>
        </p:txBody>
      </p:sp>
      <p:sp>
        <p:nvSpPr>
          <p:cNvPr id="8" name="TextBox 7"/>
          <p:cNvSpPr txBox="1"/>
          <p:nvPr/>
        </p:nvSpPr>
        <p:spPr>
          <a:xfrm>
            <a:off x="731520" y="1700784"/>
            <a:ext cx="2651760" cy="219456"/>
          </a:xfrm>
          <a:prstGeom prst="rect">
            <a:avLst/>
          </a:prstGeom>
          <a:noFill/>
        </p:spPr>
        <p:txBody>
          <a:bodyPr wrap="square" lIns="0" rIns="0" tIns="0" bIns="0" anchor="t">
            <a:spAutoFit/>
          </a:bodyPr>
          <a:lstStyle/>
          <a:p>
            <a:pPr algn="l"/>
            <a:r>
              <a:rPr sz="800" b="1" i="0" spc="140">
                <a:solidFill>
                  <a:srgbClr val="93A1B0"/>
                </a:solidFill>
                <a:latin typeface="Segoe UI"/>
              </a:rPr>
              <a:t>LAYER</a:t>
            </a:r>
          </a:p>
        </p:txBody>
      </p:sp>
      <p:sp>
        <p:nvSpPr>
          <p:cNvPr id="9" name="TextBox 8"/>
          <p:cNvSpPr txBox="1"/>
          <p:nvPr/>
        </p:nvSpPr>
        <p:spPr>
          <a:xfrm>
            <a:off x="3383280" y="1700784"/>
            <a:ext cx="4206240" cy="219456"/>
          </a:xfrm>
          <a:prstGeom prst="rect">
            <a:avLst/>
          </a:prstGeom>
          <a:noFill/>
        </p:spPr>
        <p:txBody>
          <a:bodyPr wrap="square" lIns="0" rIns="0" tIns="0" bIns="0" anchor="t">
            <a:spAutoFit/>
          </a:bodyPr>
          <a:lstStyle/>
          <a:p>
            <a:pPr algn="l"/>
            <a:r>
              <a:rPr sz="800" b="1" i="0" spc="140">
                <a:solidFill>
                  <a:srgbClr val="93A1B0"/>
                </a:solidFill>
                <a:latin typeface="Segoe UI"/>
              </a:rPr>
              <a:t>LOCATION</a:t>
            </a:r>
          </a:p>
        </p:txBody>
      </p:sp>
      <p:sp>
        <p:nvSpPr>
          <p:cNvPr id="10" name="TextBox 9"/>
          <p:cNvSpPr txBox="1"/>
          <p:nvPr/>
        </p:nvSpPr>
        <p:spPr>
          <a:xfrm>
            <a:off x="7589520" y="1700784"/>
            <a:ext cx="3840480" cy="219456"/>
          </a:xfrm>
          <a:prstGeom prst="rect">
            <a:avLst/>
          </a:prstGeom>
          <a:noFill/>
        </p:spPr>
        <p:txBody>
          <a:bodyPr wrap="square" lIns="0" rIns="0" tIns="0" bIns="0" anchor="t">
            <a:spAutoFit/>
          </a:bodyPr>
          <a:lstStyle/>
          <a:p>
            <a:pPr algn="l"/>
            <a:r>
              <a:rPr sz="800" b="1" i="0" spc="140">
                <a:solidFill>
                  <a:srgbClr val="93A1B0"/>
                </a:solidFill>
                <a:latin typeface="Segoe UI"/>
              </a:rPr>
              <a:t>REQUIREMENT</a:t>
            </a:r>
          </a:p>
        </p:txBody>
      </p:sp>
      <p:sp>
        <p:nvSpPr>
          <p:cNvPr id="11" name="Rectangle 10"/>
          <p:cNvSpPr/>
          <p:nvPr/>
        </p:nvSpPr>
        <p:spPr>
          <a:xfrm>
            <a:off x="731520" y="1956816"/>
            <a:ext cx="10728655" cy="10058"/>
          </a:xfrm>
          <a:prstGeom prst="rect">
            <a:avLst/>
          </a:prstGeom>
          <a:solidFill>
            <a:srgbClr val="2A3441"/>
          </a:solidFill>
          <a:ln>
            <a:noFill/>
          </a:ln>
          <a:effectLst/>
        </p:spPr>
        <p:txBody>
          <a:bodyPr rtlCol="0" anchor="ctr"/>
          <a:lstStyle/>
          <a:p/>
        </p:txBody>
      </p:sp>
      <p:sp>
        <p:nvSpPr>
          <p:cNvPr id="12" name="Rectangle 11"/>
          <p:cNvSpPr/>
          <p:nvPr/>
        </p:nvSpPr>
        <p:spPr>
          <a:xfrm>
            <a:off x="731520" y="2889503"/>
            <a:ext cx="10728655" cy="10058"/>
          </a:xfrm>
          <a:prstGeom prst="rect">
            <a:avLst/>
          </a:prstGeom>
          <a:solidFill>
            <a:srgbClr val="2A3441"/>
          </a:solidFill>
          <a:ln>
            <a:noFill/>
          </a:ln>
          <a:effectLst/>
        </p:spPr>
        <p:txBody>
          <a:bodyPr rtlCol="0" anchor="ctr"/>
          <a:lstStyle/>
          <a:p/>
        </p:txBody>
      </p:sp>
      <p:sp>
        <p:nvSpPr>
          <p:cNvPr id="13" name="TextBox 12"/>
          <p:cNvSpPr txBox="1"/>
          <p:nvPr/>
        </p:nvSpPr>
        <p:spPr>
          <a:xfrm>
            <a:off x="731520" y="2304288"/>
            <a:ext cx="2560320" cy="292608"/>
          </a:xfrm>
          <a:prstGeom prst="rect">
            <a:avLst/>
          </a:prstGeom>
          <a:noFill/>
        </p:spPr>
        <p:txBody>
          <a:bodyPr wrap="square" lIns="0" rIns="0" tIns="0" bIns="0" anchor="t">
            <a:spAutoFit/>
          </a:bodyPr>
          <a:lstStyle/>
          <a:p>
            <a:pPr algn="l"/>
            <a:r>
              <a:rPr sz="1350" b="1" i="0">
                <a:solidFill>
                  <a:srgbClr val="F2F5F8"/>
                </a:solidFill>
                <a:latin typeface="Segoe UI"/>
              </a:rPr>
              <a:t>Unit</a:t>
            </a:r>
          </a:p>
        </p:txBody>
      </p:sp>
      <p:sp>
        <p:nvSpPr>
          <p:cNvPr id="14" name="TextBox 13"/>
          <p:cNvSpPr txBox="1"/>
          <p:nvPr/>
        </p:nvSpPr>
        <p:spPr>
          <a:xfrm>
            <a:off x="3383280" y="2322576"/>
            <a:ext cx="4023360" cy="292608"/>
          </a:xfrm>
          <a:prstGeom prst="rect">
            <a:avLst/>
          </a:prstGeom>
          <a:noFill/>
        </p:spPr>
        <p:txBody>
          <a:bodyPr wrap="square" lIns="0" rIns="0" tIns="0" bIns="0" anchor="t">
            <a:spAutoFit/>
          </a:bodyPr>
          <a:lstStyle/>
          <a:p>
            <a:pPr algn="l"/>
            <a:r>
              <a:rPr sz="1050" b="0" i="0">
                <a:solidFill>
                  <a:srgbClr val="93A1B0"/>
                </a:solidFill>
                <a:latin typeface="Consolas"/>
              </a:rPr>
              <a:t>packages/ui/src/**/*.test.ts</a:t>
            </a:r>
          </a:p>
        </p:txBody>
      </p:sp>
      <p:sp>
        <p:nvSpPr>
          <p:cNvPr id="15" name="TextBox 14"/>
          <p:cNvSpPr txBox="1"/>
          <p:nvPr/>
        </p:nvSpPr>
        <p:spPr>
          <a:xfrm>
            <a:off x="7589520" y="2322576"/>
            <a:ext cx="3840480" cy="457200"/>
          </a:xfrm>
          <a:prstGeom prst="rect">
            <a:avLst/>
          </a:prstGeom>
          <a:noFill/>
        </p:spPr>
        <p:txBody>
          <a:bodyPr wrap="square" lIns="0" rIns="0" tIns="0" bIns="0" anchor="t">
            <a:spAutoFit/>
          </a:bodyPr>
          <a:lstStyle/>
          <a:p>
            <a:pPr algn="l"/>
            <a:r>
              <a:rPr sz="1100" b="0" i="0">
                <a:solidFill>
                  <a:srgbClr val="93A1B0"/>
                </a:solidFill>
                <a:latin typeface="Segoe UI"/>
              </a:rPr>
              <a:t>≥ 1 test per export; happy path + rejection cases</a:t>
            </a:r>
          </a:p>
        </p:txBody>
      </p:sp>
      <p:sp>
        <p:nvSpPr>
          <p:cNvPr id="16" name="Rectangle 15"/>
          <p:cNvSpPr/>
          <p:nvPr/>
        </p:nvSpPr>
        <p:spPr>
          <a:xfrm>
            <a:off x="731520" y="3730752"/>
            <a:ext cx="10728655" cy="10058"/>
          </a:xfrm>
          <a:prstGeom prst="rect">
            <a:avLst/>
          </a:prstGeom>
          <a:solidFill>
            <a:srgbClr val="2A3441"/>
          </a:solidFill>
          <a:ln>
            <a:noFill/>
          </a:ln>
          <a:effectLst/>
        </p:spPr>
        <p:txBody>
          <a:bodyPr rtlCol="0" anchor="ctr"/>
          <a:lstStyle/>
          <a:p/>
        </p:txBody>
      </p:sp>
      <p:sp>
        <p:nvSpPr>
          <p:cNvPr id="17" name="TextBox 16"/>
          <p:cNvSpPr txBox="1"/>
          <p:nvPr/>
        </p:nvSpPr>
        <p:spPr>
          <a:xfrm>
            <a:off x="731520" y="3145536"/>
            <a:ext cx="2560320" cy="292608"/>
          </a:xfrm>
          <a:prstGeom prst="rect">
            <a:avLst/>
          </a:prstGeom>
          <a:noFill/>
        </p:spPr>
        <p:txBody>
          <a:bodyPr wrap="square" lIns="0" rIns="0" tIns="0" bIns="0" anchor="t">
            <a:spAutoFit/>
          </a:bodyPr>
          <a:lstStyle/>
          <a:p>
            <a:pPr algn="l"/>
            <a:r>
              <a:rPr sz="1350" b="1" i="0">
                <a:solidFill>
                  <a:srgbClr val="F2F5F8"/>
                </a:solidFill>
                <a:latin typeface="Segoe UI"/>
              </a:rPr>
              <a:t>Integration</a:t>
            </a:r>
          </a:p>
        </p:txBody>
      </p:sp>
      <p:sp>
        <p:nvSpPr>
          <p:cNvPr id="18" name="TextBox 17"/>
          <p:cNvSpPr txBox="1"/>
          <p:nvPr/>
        </p:nvSpPr>
        <p:spPr>
          <a:xfrm>
            <a:off x="3383280" y="3163824"/>
            <a:ext cx="4023360" cy="292608"/>
          </a:xfrm>
          <a:prstGeom prst="rect">
            <a:avLst/>
          </a:prstGeom>
          <a:noFill/>
        </p:spPr>
        <p:txBody>
          <a:bodyPr wrap="square" lIns="0" rIns="0" tIns="0" bIns="0" anchor="t">
            <a:spAutoFit/>
          </a:bodyPr>
          <a:lstStyle/>
          <a:p>
            <a:pPr algn="l"/>
            <a:r>
              <a:rPr sz="1050" b="0" i="0">
                <a:solidFill>
                  <a:srgbClr val="93A1B0"/>
                </a:solidFill>
                <a:latin typeface="Consolas"/>
              </a:rPr>
              <a:t>apps/web/tests/api-*.test.ts</a:t>
            </a:r>
          </a:p>
        </p:txBody>
      </p:sp>
      <p:sp>
        <p:nvSpPr>
          <p:cNvPr id="19" name="TextBox 18"/>
          <p:cNvSpPr txBox="1"/>
          <p:nvPr/>
        </p:nvSpPr>
        <p:spPr>
          <a:xfrm>
            <a:off x="7589520" y="3163824"/>
            <a:ext cx="3840480" cy="457200"/>
          </a:xfrm>
          <a:prstGeom prst="rect">
            <a:avLst/>
          </a:prstGeom>
          <a:noFill/>
        </p:spPr>
        <p:txBody>
          <a:bodyPr wrap="square" lIns="0" rIns="0" tIns="0" bIns="0" anchor="t">
            <a:spAutoFit/>
          </a:bodyPr>
          <a:lstStyle/>
          <a:p>
            <a:pPr algn="l"/>
            <a:r>
              <a:rPr sz="1100" b="0" i="0">
                <a:solidFill>
                  <a:srgbClr val="93A1B0"/>
                </a:solidFill>
                <a:latin typeface="Segoe UI"/>
              </a:rPr>
              <a:t>Every route: success + ≥ 2 failure cases</a:t>
            </a:r>
          </a:p>
        </p:txBody>
      </p:sp>
      <p:sp>
        <p:nvSpPr>
          <p:cNvPr id="20" name="Rectangle 19"/>
          <p:cNvSpPr/>
          <p:nvPr/>
        </p:nvSpPr>
        <p:spPr>
          <a:xfrm>
            <a:off x="731520" y="4572000"/>
            <a:ext cx="10728655" cy="10058"/>
          </a:xfrm>
          <a:prstGeom prst="rect">
            <a:avLst/>
          </a:prstGeom>
          <a:solidFill>
            <a:srgbClr val="2A3441"/>
          </a:solidFill>
          <a:ln>
            <a:noFill/>
          </a:ln>
          <a:effectLst/>
        </p:spPr>
        <p:txBody>
          <a:bodyPr rtlCol="0" anchor="ctr"/>
          <a:lstStyle/>
          <a:p/>
        </p:txBody>
      </p:sp>
      <p:sp>
        <p:nvSpPr>
          <p:cNvPr id="21" name="TextBox 20"/>
          <p:cNvSpPr txBox="1"/>
          <p:nvPr/>
        </p:nvSpPr>
        <p:spPr>
          <a:xfrm>
            <a:off x="731520" y="3986783"/>
            <a:ext cx="2560320" cy="292608"/>
          </a:xfrm>
          <a:prstGeom prst="rect">
            <a:avLst/>
          </a:prstGeom>
          <a:noFill/>
        </p:spPr>
        <p:txBody>
          <a:bodyPr wrap="square" lIns="0" rIns="0" tIns="0" bIns="0" anchor="t">
            <a:spAutoFit/>
          </a:bodyPr>
          <a:lstStyle/>
          <a:p>
            <a:pPr algn="l"/>
            <a:r>
              <a:rPr sz="1350" b="1" i="0">
                <a:solidFill>
                  <a:srgbClr val="F2F5F8"/>
                </a:solidFill>
                <a:latin typeface="Segoe UI"/>
              </a:rPr>
              <a:t>Component</a:t>
            </a:r>
          </a:p>
        </p:txBody>
      </p:sp>
      <p:sp>
        <p:nvSpPr>
          <p:cNvPr id="22" name="TextBox 21"/>
          <p:cNvSpPr txBox="1"/>
          <p:nvPr/>
        </p:nvSpPr>
        <p:spPr>
          <a:xfrm>
            <a:off x="3383280" y="4005072"/>
            <a:ext cx="4023360" cy="292608"/>
          </a:xfrm>
          <a:prstGeom prst="rect">
            <a:avLst/>
          </a:prstGeom>
          <a:noFill/>
        </p:spPr>
        <p:txBody>
          <a:bodyPr wrap="square" lIns="0" rIns="0" tIns="0" bIns="0" anchor="t">
            <a:spAutoFit/>
          </a:bodyPr>
          <a:lstStyle/>
          <a:p>
            <a:pPr algn="l"/>
            <a:r>
              <a:rPr sz="1050" b="0" i="0">
                <a:solidFill>
                  <a:srgbClr val="93A1B0"/>
                </a:solidFill>
                <a:latin typeface="Consolas"/>
              </a:rPr>
              <a:t>apps/web + apps/mobile __tests__</a:t>
            </a:r>
          </a:p>
        </p:txBody>
      </p:sp>
      <p:sp>
        <p:nvSpPr>
          <p:cNvPr id="23" name="TextBox 22"/>
          <p:cNvSpPr txBox="1"/>
          <p:nvPr/>
        </p:nvSpPr>
        <p:spPr>
          <a:xfrm>
            <a:off x="7589520" y="4005072"/>
            <a:ext cx="3840480" cy="457200"/>
          </a:xfrm>
          <a:prstGeom prst="rect">
            <a:avLst/>
          </a:prstGeom>
          <a:noFill/>
        </p:spPr>
        <p:txBody>
          <a:bodyPr wrap="square" lIns="0" rIns="0" tIns="0" bIns="0" anchor="t">
            <a:spAutoFit/>
          </a:bodyPr>
          <a:lstStyle/>
          <a:p>
            <a:pPr algn="l"/>
            <a:r>
              <a:rPr sz="1100" b="0" i="0">
                <a:solidFill>
                  <a:srgbClr val="93A1B0"/>
                </a:solidFill>
                <a:latin typeface="Segoe UI"/>
              </a:rPr>
              <a:t>Render assertion + one interaction assertion</a:t>
            </a:r>
          </a:p>
        </p:txBody>
      </p:sp>
      <p:sp>
        <p:nvSpPr>
          <p:cNvPr id="24" name="Rectangle 23"/>
          <p:cNvSpPr/>
          <p:nvPr/>
        </p:nvSpPr>
        <p:spPr>
          <a:xfrm>
            <a:off x="731520" y="4892040"/>
            <a:ext cx="10728655" cy="868680"/>
          </a:xfrm>
          <a:prstGeom prst="rect">
            <a:avLst/>
          </a:prstGeom>
          <a:solidFill>
            <a:srgbClr val="1A222C"/>
          </a:solidFill>
          <a:ln w="12700">
            <a:solidFill>
              <a:srgbClr val="2A3441"/>
            </a:solidFill>
          </a:ln>
          <a:effectLst/>
        </p:spPr>
        <p:txBody>
          <a:bodyPr rtlCol="0" anchor="ctr"/>
          <a:lstStyle/>
          <a:p/>
        </p:txBody>
      </p:sp>
      <p:sp>
        <p:nvSpPr>
          <p:cNvPr id="25" name="TextBox 24"/>
          <p:cNvSpPr txBox="1"/>
          <p:nvPr/>
        </p:nvSpPr>
        <p:spPr>
          <a:xfrm>
            <a:off x="1005840" y="5074920"/>
            <a:ext cx="3840480" cy="502920"/>
          </a:xfrm>
          <a:prstGeom prst="rect">
            <a:avLst/>
          </a:prstGeom>
          <a:noFill/>
        </p:spPr>
        <p:txBody>
          <a:bodyPr wrap="square" lIns="0" rIns="0" tIns="0" bIns="0" anchor="t">
            <a:spAutoFit/>
          </a:bodyPr>
          <a:lstStyle/>
          <a:p>
            <a:pPr algn="l"/>
            <a:r>
              <a:rPr sz="1700" b="1" i="0">
                <a:solidFill>
                  <a:srgbClr val="00D08A"/>
                </a:solidFill>
                <a:latin typeface="Consolas"/>
              </a:rPr>
              <a:t>pnpm check</a:t>
            </a:r>
          </a:p>
        </p:txBody>
      </p:sp>
      <p:sp>
        <p:nvSpPr>
          <p:cNvPr id="26" name="TextBox 25"/>
          <p:cNvSpPr txBox="1"/>
          <p:nvPr/>
        </p:nvSpPr>
        <p:spPr>
          <a:xfrm>
            <a:off x="3383280" y="5074920"/>
            <a:ext cx="7680960" cy="502920"/>
          </a:xfrm>
          <a:prstGeom prst="rect">
            <a:avLst/>
          </a:prstGeom>
          <a:noFill/>
        </p:spPr>
        <p:txBody>
          <a:bodyPr wrap="square" lIns="0" rIns="0" tIns="0" bIns="0" anchor="t">
            <a:spAutoFit/>
          </a:bodyPr>
          <a:lstStyle/>
          <a:p>
            <a:pPr algn="l"/>
            <a:r>
              <a:rPr sz="1250" b="0" i="0">
                <a:solidFill>
                  <a:srgbClr val="F2F5F8"/>
                </a:solidFill>
                <a:latin typeface="Segoe UI"/>
              </a:rPr>
              <a:t>typecheck + tests across every workspace — the gate before anything is called done.</a:t>
            </a:r>
          </a:p>
        </p:txBody>
      </p:sp>
      <p:sp>
        <p:nvSpPr>
          <p:cNvPr id="27" name="TextBox 26"/>
          <p:cNvSpPr txBox="1"/>
          <p:nvPr/>
        </p:nvSpPr>
        <p:spPr>
          <a:xfrm>
            <a:off x="731520" y="5943600"/>
            <a:ext cx="10728655" cy="274320"/>
          </a:xfrm>
          <a:prstGeom prst="rect">
            <a:avLst/>
          </a:prstGeom>
          <a:noFill/>
        </p:spPr>
        <p:txBody>
          <a:bodyPr wrap="square" lIns="0" rIns="0" tIns="0" bIns="0" anchor="t">
            <a:spAutoFit/>
          </a:bodyPr>
          <a:lstStyle/>
          <a:p>
            <a:pPr algn="l"/>
            <a:r>
              <a:rPr sz="1050" b="0" i="0">
                <a:solidFill>
                  <a:srgbClr val="93A1B0"/>
                </a:solidFill>
                <a:latin typeface="Segoe UI"/>
              </a:rPr>
              <a:t>Stated honestly: no E2E, visual regression or load tests yet. They are planned, not implemented.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566928"/>
            <a:ext cx="8229600" cy="274320"/>
          </a:xfrm>
          <a:prstGeom prst="rect">
            <a:avLst/>
          </a:prstGeom>
          <a:noFill/>
        </p:spPr>
        <p:txBody>
          <a:bodyPr wrap="square" lIns="0" rIns="0" tIns="0" bIns="0" anchor="t">
            <a:spAutoFit/>
          </a:bodyPr>
          <a:lstStyle/>
          <a:p>
            <a:pPr algn="l"/>
            <a:r>
              <a:rPr sz="1050" b="1" i="0" spc="160">
                <a:solidFill>
                  <a:srgbClr val="93A1B0"/>
                </a:solidFill>
                <a:latin typeface="Segoe UI"/>
              </a:rPr>
              <a:t>12  ·  STATUS</a:t>
            </a:r>
          </a:p>
        </p:txBody>
      </p:sp>
      <p:sp>
        <p:nvSpPr>
          <p:cNvPr id="3" name="TextBox 2"/>
          <p:cNvSpPr txBox="1"/>
          <p:nvPr/>
        </p:nvSpPr>
        <p:spPr>
          <a:xfrm>
            <a:off x="731520" y="859536"/>
            <a:ext cx="10728655" cy="640080"/>
          </a:xfrm>
          <a:prstGeom prst="rect">
            <a:avLst/>
          </a:prstGeom>
          <a:noFill/>
        </p:spPr>
        <p:txBody>
          <a:bodyPr wrap="square" lIns="0" rIns="0" tIns="0" bIns="0" anchor="t">
            <a:spAutoFit/>
          </a:bodyPr>
          <a:lstStyle/>
          <a:p>
            <a:pPr algn="l">
              <a:lnSpc>
                <a:spcPct val="105000"/>
              </a:lnSpc>
            </a:pPr>
            <a:r>
              <a:rPr sz="2900" b="1" i="0">
                <a:solidFill>
                  <a:srgbClr val="F2F5F8"/>
                </a:solidFill>
                <a:latin typeface="Segoe UI"/>
              </a:rPr>
              <a:t>What exists today — and what deliberately doesn't.</a:t>
            </a:r>
          </a:p>
        </p:txBody>
      </p:sp>
      <p:sp>
        <p:nvSpPr>
          <p:cNvPr id="4" name="Rectangle 3"/>
          <p:cNvSpPr/>
          <p:nvPr/>
        </p:nvSpPr>
        <p:spPr>
          <a:xfrm>
            <a:off x="731520" y="1517904"/>
            <a:ext cx="10728655" cy="10058"/>
          </a:xfrm>
          <a:prstGeom prst="rect">
            <a:avLst/>
          </a:prstGeom>
          <a:solidFill>
            <a:srgbClr val="2A3441"/>
          </a:solidFill>
          <a:ln>
            <a:noFill/>
          </a:ln>
          <a:effectLst/>
        </p:spPr>
        <p:txBody>
          <a:bodyPr rtlCol="0" anchor="ctr"/>
          <a:lstStyle/>
          <a:p/>
        </p:txBody>
      </p:sp>
      <p:sp>
        <p:nvSpPr>
          <p:cNvPr id="5" name="Rectangle 4"/>
          <p:cNvSpPr/>
          <p:nvPr/>
        </p:nvSpPr>
        <p:spPr>
          <a:xfrm>
            <a:off x="731520" y="6327648"/>
            <a:ext cx="10728655" cy="10058"/>
          </a:xfrm>
          <a:prstGeom prst="rect">
            <a:avLst/>
          </a:prstGeom>
          <a:solidFill>
            <a:srgbClr val="2A3441"/>
          </a:solidFill>
          <a:ln>
            <a:noFill/>
          </a:ln>
          <a:effectLst/>
        </p:spPr>
        <p:txBody>
          <a:bodyPr rtlCol="0" anchor="ctr"/>
          <a:lstStyle/>
          <a:p/>
        </p:txBody>
      </p:sp>
      <p:sp>
        <p:nvSpPr>
          <p:cNvPr id="6" name="TextBox 5"/>
          <p:cNvSpPr txBox="1"/>
          <p:nvPr/>
        </p:nvSpPr>
        <p:spPr>
          <a:xfrm>
            <a:off x="731520" y="6428232"/>
            <a:ext cx="5486400" cy="228600"/>
          </a:xfrm>
          <a:prstGeom prst="rect">
            <a:avLst/>
          </a:prstGeom>
          <a:noFill/>
        </p:spPr>
        <p:txBody>
          <a:bodyPr wrap="square" lIns="0" rIns="0" tIns="0" bIns="0" anchor="t">
            <a:spAutoFit/>
          </a:bodyPr>
          <a:lstStyle/>
          <a:p>
            <a:pPr algn="l"/>
            <a:r>
              <a:rPr sz="850" b="0" i="0" spc="120">
                <a:solidFill>
                  <a:srgbClr val="93A1B0"/>
                </a:solidFill>
                <a:latin typeface="Segoe UI"/>
              </a:rPr>
              <a:t>AIRA  ·  AI RESPONSIVE ALERT</a:t>
            </a:r>
          </a:p>
        </p:txBody>
      </p:sp>
      <p:sp>
        <p:nvSpPr>
          <p:cNvPr id="7" name="TextBox 6"/>
          <p:cNvSpPr txBox="1"/>
          <p:nvPr/>
        </p:nvSpPr>
        <p:spPr>
          <a:xfrm>
            <a:off x="10362895" y="6428232"/>
            <a:ext cx="1097280" cy="228600"/>
          </a:xfrm>
          <a:prstGeom prst="rect">
            <a:avLst/>
          </a:prstGeom>
          <a:noFill/>
        </p:spPr>
        <p:txBody>
          <a:bodyPr wrap="square" lIns="0" rIns="0" tIns="0" bIns="0" anchor="t">
            <a:spAutoFit/>
          </a:bodyPr>
          <a:lstStyle/>
          <a:p>
            <a:pPr algn="r"/>
            <a:r>
              <a:rPr sz="850" b="0" i="0">
                <a:solidFill>
                  <a:srgbClr val="93A1B0"/>
                </a:solidFill>
                <a:latin typeface="Consolas"/>
              </a:rPr>
              <a:t>13 / 14</a:t>
            </a:r>
          </a:p>
        </p:txBody>
      </p:sp>
      <p:sp>
        <p:nvSpPr>
          <p:cNvPr id="8" name="Rectangle 7"/>
          <p:cNvSpPr/>
          <p:nvPr/>
        </p:nvSpPr>
        <p:spPr>
          <a:xfrm>
            <a:off x="731520" y="1783080"/>
            <a:ext cx="3423818" cy="3200400"/>
          </a:xfrm>
          <a:prstGeom prst="rect">
            <a:avLst/>
          </a:prstGeom>
          <a:solidFill>
            <a:srgbClr val="12181F"/>
          </a:solidFill>
          <a:ln w="12700">
            <a:solidFill>
              <a:srgbClr val="2A3441"/>
            </a:solidFill>
          </a:ln>
          <a:effectLst/>
        </p:spPr>
        <p:txBody>
          <a:bodyPr rtlCol="0" anchor="ctr"/>
          <a:lstStyle/>
          <a:p/>
        </p:txBody>
      </p:sp>
      <p:sp>
        <p:nvSpPr>
          <p:cNvPr id="9" name="Rectangle 8"/>
          <p:cNvSpPr/>
          <p:nvPr/>
        </p:nvSpPr>
        <p:spPr>
          <a:xfrm>
            <a:off x="731520" y="1783080"/>
            <a:ext cx="3423818" cy="45720"/>
          </a:xfrm>
          <a:prstGeom prst="rect">
            <a:avLst/>
          </a:prstGeom>
          <a:solidFill>
            <a:srgbClr val="00D08A"/>
          </a:solidFill>
          <a:ln>
            <a:noFill/>
          </a:ln>
          <a:effectLst/>
        </p:spPr>
        <p:txBody>
          <a:bodyPr rtlCol="0" anchor="ctr"/>
          <a:lstStyle/>
          <a:p/>
        </p:txBody>
      </p:sp>
      <p:sp>
        <p:nvSpPr>
          <p:cNvPr id="10" name="TextBox 9"/>
          <p:cNvSpPr txBox="1"/>
          <p:nvPr/>
        </p:nvSpPr>
        <p:spPr>
          <a:xfrm>
            <a:off x="969264" y="2039112"/>
            <a:ext cx="2966618" cy="274320"/>
          </a:xfrm>
          <a:prstGeom prst="rect">
            <a:avLst/>
          </a:prstGeom>
          <a:noFill/>
        </p:spPr>
        <p:txBody>
          <a:bodyPr wrap="square" lIns="0" rIns="0" tIns="0" bIns="0" anchor="t">
            <a:spAutoFit/>
          </a:bodyPr>
          <a:lstStyle/>
          <a:p>
            <a:pPr algn="l"/>
            <a:r>
              <a:rPr sz="950" b="1" i="0" spc="180">
                <a:solidFill>
                  <a:srgbClr val="00D08A"/>
                </a:solidFill>
                <a:latin typeface="Segoe UI"/>
              </a:rPr>
              <a:t>TODAY</a:t>
            </a:r>
          </a:p>
        </p:txBody>
      </p:sp>
      <p:sp>
        <p:nvSpPr>
          <p:cNvPr id="11" name="TextBox 10"/>
          <p:cNvSpPr txBox="1"/>
          <p:nvPr/>
        </p:nvSpPr>
        <p:spPr>
          <a:xfrm>
            <a:off x="969264" y="2350008"/>
            <a:ext cx="2966618" cy="274320"/>
          </a:xfrm>
          <a:prstGeom prst="rect">
            <a:avLst/>
          </a:prstGeom>
          <a:noFill/>
        </p:spPr>
        <p:txBody>
          <a:bodyPr wrap="square" lIns="0" rIns="0" tIns="0" bIns="0" anchor="t">
            <a:spAutoFit/>
          </a:bodyPr>
          <a:lstStyle/>
          <a:p>
            <a:pPr algn="l"/>
            <a:r>
              <a:rPr sz="1100" b="0" i="0">
                <a:solidFill>
                  <a:srgbClr val="93A1B0"/>
                </a:solidFill>
                <a:latin typeface="Segoe UI"/>
              </a:rPr>
              <a:t>Shipped in the MVP scaffold</a:t>
            </a:r>
          </a:p>
        </p:txBody>
      </p:sp>
      <p:sp>
        <p:nvSpPr>
          <p:cNvPr id="12" name="Rectangle 11"/>
          <p:cNvSpPr/>
          <p:nvPr/>
        </p:nvSpPr>
        <p:spPr>
          <a:xfrm>
            <a:off x="969264" y="2697480"/>
            <a:ext cx="2948330" cy="10058"/>
          </a:xfrm>
          <a:prstGeom prst="rect">
            <a:avLst/>
          </a:prstGeom>
          <a:solidFill>
            <a:srgbClr val="2A3441"/>
          </a:solidFill>
          <a:ln>
            <a:noFill/>
          </a:ln>
          <a:effectLst/>
        </p:spPr>
        <p:txBody>
          <a:bodyPr rtlCol="0" anchor="ctr"/>
          <a:lstStyle/>
          <a:p/>
        </p:txBody>
      </p:sp>
      <p:sp>
        <p:nvSpPr>
          <p:cNvPr id="13" name="TextBox 12"/>
          <p:cNvSpPr txBox="1"/>
          <p:nvPr/>
        </p:nvSpPr>
        <p:spPr>
          <a:xfrm>
            <a:off x="969264" y="2834639"/>
            <a:ext cx="2966618" cy="2011680"/>
          </a:xfrm>
          <a:prstGeom prst="rect">
            <a:avLst/>
          </a:prstGeom>
          <a:noFill/>
        </p:spPr>
        <p:txBody>
          <a:bodyPr wrap="square" lIns="0" rIns="0" tIns="0" bIns="0">
            <a:spAutoFit/>
          </a:bodyPr>
          <a:lstStyle/>
          <a:p>
            <a:pPr marL="256032" indent="-256032">
              <a:lnSpc>
                <a:spcPct val="125000"/>
              </a:lnSpc>
              <a:spcAft>
                <a:spcPts val="900"/>
              </a:spcAft>
              <a:buClr>
                <a:srgbClr val="4C5A6A"/>
              </a:buClr>
              <a:buFont typeface="Arial"/>
              <a:buChar char="—"/>
            </a:pPr>
            <a:r>
              <a:rPr sz="1050">
                <a:solidFill>
                  <a:srgbClr val="F2F5F8"/>
                </a:solidFill>
                <a:latin typeface="Segoe UI"/>
              </a:rPr>
              <a:t>4-button Bisaya SOS grid logging the payload</a:t>
            </a:r>
          </a:p>
          <a:p>
            <a:pPr marL="256032" indent="-256032">
              <a:lnSpc>
                <a:spcPct val="125000"/>
              </a:lnSpc>
              <a:spcAft>
                <a:spcPts val="900"/>
              </a:spcAft>
              <a:buClr>
                <a:srgbClr val="4C5A6A"/>
              </a:buClr>
              <a:buFont typeface="Arial"/>
              <a:buChar char="—"/>
            </a:pPr>
            <a:r>
              <a:rPr sz="1050">
                <a:solidFill>
                  <a:srgbClr val="F2F5F8"/>
                </a:solidFill>
                <a:latin typeface="Segoe UI"/>
              </a:rPr>
              <a:t>/api/incidents with reject-by-default validation</a:t>
            </a:r>
          </a:p>
          <a:p>
            <a:pPr marL="256032" indent="-256032">
              <a:lnSpc>
                <a:spcPct val="125000"/>
              </a:lnSpc>
              <a:spcAft>
                <a:spcPts val="900"/>
              </a:spcAft>
              <a:buClr>
                <a:srgbClr val="4C5A6A"/>
              </a:buClr>
              <a:buFont typeface="Arial"/>
              <a:buChar char="—"/>
            </a:pPr>
            <a:r>
              <a:rPr sz="1050">
                <a:solidFill>
                  <a:srgbClr val="F2F5F8"/>
                </a:solidFill>
                <a:latin typeface="Segoe UI"/>
              </a:rPr>
              <a:t>MapLibre console: queue, map, routing panel</a:t>
            </a:r>
          </a:p>
          <a:p>
            <a:pPr marL="256032" indent="-256032">
              <a:lnSpc>
                <a:spcPct val="125000"/>
              </a:lnSpc>
              <a:spcAft>
                <a:spcPts val="900"/>
              </a:spcAft>
              <a:buClr>
                <a:srgbClr val="4C5A6A"/>
              </a:buClr>
              <a:buFont typeface="Arial"/>
              <a:buChar char="—"/>
            </a:pPr>
            <a:r>
              <a:rPr sz="1050">
                <a:solidFill>
                  <a:srgbClr val="F2F5F8"/>
                </a:solidFill>
                <a:latin typeface="Segoe UI"/>
              </a:rPr>
              <a:t>Shared payload helpers with unit tests</a:t>
            </a:r>
          </a:p>
          <a:p>
            <a:pPr marL="256032" indent="-256032">
              <a:lnSpc>
                <a:spcPct val="125000"/>
              </a:lnSpc>
              <a:spcAft>
                <a:spcPts val="900"/>
              </a:spcAft>
              <a:buClr>
                <a:srgbClr val="4C5A6A"/>
              </a:buClr>
              <a:buFont typeface="Arial"/>
              <a:buChar char="—"/>
            </a:pPr>
            <a:r>
              <a:rPr sz="1050">
                <a:solidFill>
                  <a:srgbClr val="F2F5F8"/>
                </a:solidFill>
                <a:latin typeface="Segoe UI"/>
              </a:rPr>
              <a:t>Docs as guardrails: product, design, security, testing</a:t>
            </a:r>
          </a:p>
        </p:txBody>
      </p:sp>
      <p:sp>
        <p:nvSpPr>
          <p:cNvPr id="14" name="Rectangle 13"/>
          <p:cNvSpPr/>
          <p:nvPr/>
        </p:nvSpPr>
        <p:spPr>
          <a:xfrm>
            <a:off x="4383938" y="1783080"/>
            <a:ext cx="3423818" cy="3200400"/>
          </a:xfrm>
          <a:prstGeom prst="rect">
            <a:avLst/>
          </a:prstGeom>
          <a:solidFill>
            <a:srgbClr val="12181F"/>
          </a:solidFill>
          <a:ln w="12700">
            <a:solidFill>
              <a:srgbClr val="2A3441"/>
            </a:solidFill>
          </a:ln>
          <a:effectLst/>
        </p:spPr>
        <p:txBody>
          <a:bodyPr rtlCol="0" anchor="ctr"/>
          <a:lstStyle/>
          <a:p/>
        </p:txBody>
      </p:sp>
      <p:sp>
        <p:nvSpPr>
          <p:cNvPr id="15" name="Rectangle 14"/>
          <p:cNvSpPr/>
          <p:nvPr/>
        </p:nvSpPr>
        <p:spPr>
          <a:xfrm>
            <a:off x="4383938" y="1783080"/>
            <a:ext cx="3423818" cy="45720"/>
          </a:xfrm>
          <a:prstGeom prst="rect">
            <a:avLst/>
          </a:prstGeom>
          <a:solidFill>
            <a:srgbClr val="4CC2FF"/>
          </a:solidFill>
          <a:ln>
            <a:noFill/>
          </a:ln>
          <a:effectLst/>
        </p:spPr>
        <p:txBody>
          <a:bodyPr rtlCol="0" anchor="ctr"/>
          <a:lstStyle/>
          <a:p/>
        </p:txBody>
      </p:sp>
      <p:sp>
        <p:nvSpPr>
          <p:cNvPr id="16" name="TextBox 15"/>
          <p:cNvSpPr txBox="1"/>
          <p:nvPr/>
        </p:nvSpPr>
        <p:spPr>
          <a:xfrm>
            <a:off x="4621682" y="2039112"/>
            <a:ext cx="2966618" cy="274320"/>
          </a:xfrm>
          <a:prstGeom prst="rect">
            <a:avLst/>
          </a:prstGeom>
          <a:noFill/>
        </p:spPr>
        <p:txBody>
          <a:bodyPr wrap="square" lIns="0" rIns="0" tIns="0" bIns="0" anchor="t">
            <a:spAutoFit/>
          </a:bodyPr>
          <a:lstStyle/>
          <a:p>
            <a:pPr algn="l"/>
            <a:r>
              <a:rPr sz="950" b="1" i="0" spc="180">
                <a:solidFill>
                  <a:srgbClr val="4CC2FF"/>
                </a:solidFill>
                <a:latin typeface="Segoe UI"/>
              </a:rPr>
              <a:t>NEXT</a:t>
            </a:r>
          </a:p>
        </p:txBody>
      </p:sp>
      <p:sp>
        <p:nvSpPr>
          <p:cNvPr id="17" name="TextBox 16"/>
          <p:cNvSpPr txBox="1"/>
          <p:nvPr/>
        </p:nvSpPr>
        <p:spPr>
          <a:xfrm>
            <a:off x="4621682" y="2350008"/>
            <a:ext cx="2966618" cy="274320"/>
          </a:xfrm>
          <a:prstGeom prst="rect">
            <a:avLst/>
          </a:prstGeom>
          <a:noFill/>
        </p:spPr>
        <p:txBody>
          <a:bodyPr wrap="square" lIns="0" rIns="0" tIns="0" bIns="0" anchor="t">
            <a:spAutoFit/>
          </a:bodyPr>
          <a:lstStyle/>
          <a:p>
            <a:pPr algn="l"/>
            <a:r>
              <a:rPr sz="1100" b="0" i="0">
                <a:solidFill>
                  <a:srgbClr val="93A1B0"/>
                </a:solidFill>
                <a:latin typeface="Segoe UI"/>
              </a:rPr>
              <a:t>In dependency order</a:t>
            </a:r>
          </a:p>
        </p:txBody>
      </p:sp>
      <p:sp>
        <p:nvSpPr>
          <p:cNvPr id="18" name="Rectangle 17"/>
          <p:cNvSpPr/>
          <p:nvPr/>
        </p:nvSpPr>
        <p:spPr>
          <a:xfrm>
            <a:off x="4621682" y="2697480"/>
            <a:ext cx="2948330" cy="10058"/>
          </a:xfrm>
          <a:prstGeom prst="rect">
            <a:avLst/>
          </a:prstGeom>
          <a:solidFill>
            <a:srgbClr val="2A3441"/>
          </a:solidFill>
          <a:ln>
            <a:noFill/>
          </a:ln>
          <a:effectLst/>
        </p:spPr>
        <p:txBody>
          <a:bodyPr rtlCol="0" anchor="ctr"/>
          <a:lstStyle/>
          <a:p/>
        </p:txBody>
      </p:sp>
      <p:sp>
        <p:nvSpPr>
          <p:cNvPr id="19" name="TextBox 18"/>
          <p:cNvSpPr txBox="1"/>
          <p:nvPr/>
        </p:nvSpPr>
        <p:spPr>
          <a:xfrm>
            <a:off x="4621682" y="2834639"/>
            <a:ext cx="2966618" cy="2011680"/>
          </a:xfrm>
          <a:prstGeom prst="rect">
            <a:avLst/>
          </a:prstGeom>
          <a:noFill/>
        </p:spPr>
        <p:txBody>
          <a:bodyPr wrap="square" lIns="0" rIns="0" tIns="0" bIns="0">
            <a:spAutoFit/>
          </a:bodyPr>
          <a:lstStyle/>
          <a:p>
            <a:pPr marL="256032" indent="-256032">
              <a:lnSpc>
                <a:spcPct val="125000"/>
              </a:lnSpc>
              <a:spcAft>
                <a:spcPts val="900"/>
              </a:spcAft>
              <a:buClr>
                <a:srgbClr val="4C5A6A"/>
              </a:buClr>
              <a:buFont typeface="Arial"/>
              <a:buChar char="—"/>
            </a:pPr>
            <a:r>
              <a:rPr sz="1050">
                <a:solidFill>
                  <a:srgbClr val="F2F5F8"/>
                </a:solidFill>
                <a:latin typeface="Segoe UI"/>
              </a:rPr>
              <a:t>Encrypted Bluetooth / LoRa mesh transport</a:t>
            </a:r>
          </a:p>
          <a:p>
            <a:pPr marL="256032" indent="-256032">
              <a:lnSpc>
                <a:spcPct val="125000"/>
              </a:lnSpc>
              <a:spcAft>
                <a:spcPts val="900"/>
              </a:spcAft>
              <a:buClr>
                <a:srgbClr val="4C5A6A"/>
              </a:buClr>
              <a:buFont typeface="Arial"/>
              <a:buChar char="—"/>
            </a:pPr>
            <a:r>
              <a:rPr sz="1050">
                <a:solidFill>
                  <a:srgbClr val="F2F5F8"/>
                </a:solidFill>
                <a:latin typeface="Segoe UI"/>
              </a:rPr>
              <a:t>Real GPS with 4 dp rounding at the device edge</a:t>
            </a:r>
          </a:p>
          <a:p>
            <a:pPr marL="256032" indent="-256032">
              <a:lnSpc>
                <a:spcPct val="125000"/>
              </a:lnSpc>
              <a:spcAft>
                <a:spcPts val="900"/>
              </a:spcAft>
              <a:buClr>
                <a:srgbClr val="4C5A6A"/>
              </a:buClr>
              <a:buFont typeface="Arial"/>
              <a:buChar char="—"/>
            </a:pPr>
            <a:r>
              <a:rPr sz="1050">
                <a:solidFill>
                  <a:srgbClr val="F2F5F8"/>
                </a:solidFill>
                <a:latin typeface="Segoe UI"/>
              </a:rPr>
              <a:t>Persistence and a defined retention window</a:t>
            </a:r>
          </a:p>
          <a:p>
            <a:pPr marL="256032" indent="-256032">
              <a:lnSpc>
                <a:spcPct val="125000"/>
              </a:lnSpc>
              <a:spcAft>
                <a:spcPts val="900"/>
              </a:spcAft>
              <a:buClr>
                <a:srgbClr val="4C5A6A"/>
              </a:buClr>
              <a:buFont typeface="Arial"/>
              <a:buChar char="—"/>
            </a:pPr>
            <a:r>
              <a:rPr sz="1050">
                <a:solidFill>
                  <a:srgbClr val="F2F5F8"/>
                </a:solidFill>
                <a:latin typeface="Segoe UI"/>
              </a:rPr>
              <a:t>Responder auth and role enforcement</a:t>
            </a:r>
          </a:p>
          <a:p>
            <a:pPr marL="256032" indent="-256032">
              <a:lnSpc>
                <a:spcPct val="125000"/>
              </a:lnSpc>
              <a:spcAft>
                <a:spcPts val="900"/>
              </a:spcAft>
              <a:buClr>
                <a:srgbClr val="4C5A6A"/>
              </a:buClr>
              <a:buFont typeface="Arial"/>
              <a:buChar char="—"/>
            </a:pPr>
            <a:r>
              <a:rPr sz="1050">
                <a:solidFill>
                  <a:srgbClr val="F2F5F8"/>
                </a:solidFill>
                <a:latin typeface="Segoe UI"/>
              </a:rPr>
              <a:t>Audit logging for every dispatch action</a:t>
            </a:r>
          </a:p>
        </p:txBody>
      </p:sp>
      <p:sp>
        <p:nvSpPr>
          <p:cNvPr id="20" name="Rectangle 19"/>
          <p:cNvSpPr/>
          <p:nvPr/>
        </p:nvSpPr>
        <p:spPr>
          <a:xfrm>
            <a:off x="8036356" y="1783080"/>
            <a:ext cx="3423818" cy="3200400"/>
          </a:xfrm>
          <a:prstGeom prst="rect">
            <a:avLst/>
          </a:prstGeom>
          <a:solidFill>
            <a:srgbClr val="12181F"/>
          </a:solidFill>
          <a:ln w="12700">
            <a:solidFill>
              <a:srgbClr val="2A3441"/>
            </a:solidFill>
          </a:ln>
          <a:effectLst/>
        </p:spPr>
        <p:txBody>
          <a:bodyPr rtlCol="0" anchor="ctr"/>
          <a:lstStyle/>
          <a:p/>
        </p:txBody>
      </p:sp>
      <p:sp>
        <p:nvSpPr>
          <p:cNvPr id="21" name="Rectangle 20"/>
          <p:cNvSpPr/>
          <p:nvPr/>
        </p:nvSpPr>
        <p:spPr>
          <a:xfrm>
            <a:off x="8036356" y="1783080"/>
            <a:ext cx="3423818" cy="45720"/>
          </a:xfrm>
          <a:prstGeom prst="rect">
            <a:avLst/>
          </a:prstGeom>
          <a:solidFill>
            <a:srgbClr val="93A1B0"/>
          </a:solidFill>
          <a:ln>
            <a:noFill/>
          </a:ln>
          <a:effectLst/>
        </p:spPr>
        <p:txBody>
          <a:bodyPr rtlCol="0" anchor="ctr"/>
          <a:lstStyle/>
          <a:p/>
        </p:txBody>
      </p:sp>
      <p:sp>
        <p:nvSpPr>
          <p:cNvPr id="22" name="TextBox 21"/>
          <p:cNvSpPr txBox="1"/>
          <p:nvPr/>
        </p:nvSpPr>
        <p:spPr>
          <a:xfrm>
            <a:off x="8274100" y="2039112"/>
            <a:ext cx="2966618" cy="274320"/>
          </a:xfrm>
          <a:prstGeom prst="rect">
            <a:avLst/>
          </a:prstGeom>
          <a:noFill/>
        </p:spPr>
        <p:txBody>
          <a:bodyPr wrap="square" lIns="0" rIns="0" tIns="0" bIns="0" anchor="t">
            <a:spAutoFit/>
          </a:bodyPr>
          <a:lstStyle/>
          <a:p>
            <a:pPr algn="l"/>
            <a:r>
              <a:rPr sz="950" b="1" i="0" spc="180">
                <a:solidFill>
                  <a:srgbClr val="93A1B0"/>
                </a:solidFill>
                <a:latin typeface="Segoe UI"/>
              </a:rPr>
              <a:t>NOT YET</a:t>
            </a:r>
          </a:p>
        </p:txBody>
      </p:sp>
      <p:sp>
        <p:nvSpPr>
          <p:cNvPr id="23" name="TextBox 22"/>
          <p:cNvSpPr txBox="1"/>
          <p:nvPr/>
        </p:nvSpPr>
        <p:spPr>
          <a:xfrm>
            <a:off x="8274100" y="2350008"/>
            <a:ext cx="2966618" cy="274320"/>
          </a:xfrm>
          <a:prstGeom prst="rect">
            <a:avLst/>
          </a:prstGeom>
          <a:noFill/>
        </p:spPr>
        <p:txBody>
          <a:bodyPr wrap="square" lIns="0" rIns="0" tIns="0" bIns="0" anchor="t">
            <a:spAutoFit/>
          </a:bodyPr>
          <a:lstStyle/>
          <a:p>
            <a:pPr algn="l"/>
            <a:r>
              <a:rPr sz="1100" b="0" i="0">
                <a:solidFill>
                  <a:srgbClr val="93A1B0"/>
                </a:solidFill>
                <a:latin typeface="Segoe UI"/>
              </a:rPr>
              <a:t>Do not pretend these exist</a:t>
            </a:r>
          </a:p>
        </p:txBody>
      </p:sp>
      <p:sp>
        <p:nvSpPr>
          <p:cNvPr id="24" name="Rectangle 23"/>
          <p:cNvSpPr/>
          <p:nvPr/>
        </p:nvSpPr>
        <p:spPr>
          <a:xfrm>
            <a:off x="8274100" y="2697480"/>
            <a:ext cx="2948330" cy="10058"/>
          </a:xfrm>
          <a:prstGeom prst="rect">
            <a:avLst/>
          </a:prstGeom>
          <a:solidFill>
            <a:srgbClr val="2A3441"/>
          </a:solidFill>
          <a:ln>
            <a:noFill/>
          </a:ln>
          <a:effectLst/>
        </p:spPr>
        <p:txBody>
          <a:bodyPr rtlCol="0" anchor="ctr"/>
          <a:lstStyle/>
          <a:p/>
        </p:txBody>
      </p:sp>
      <p:sp>
        <p:nvSpPr>
          <p:cNvPr id="25" name="TextBox 24"/>
          <p:cNvSpPr txBox="1"/>
          <p:nvPr/>
        </p:nvSpPr>
        <p:spPr>
          <a:xfrm>
            <a:off x="8274100" y="2834639"/>
            <a:ext cx="2966618" cy="2011680"/>
          </a:xfrm>
          <a:prstGeom prst="rect">
            <a:avLst/>
          </a:prstGeom>
          <a:noFill/>
        </p:spPr>
        <p:txBody>
          <a:bodyPr wrap="square" lIns="0" rIns="0" tIns="0" bIns="0">
            <a:spAutoFit/>
          </a:bodyPr>
          <a:lstStyle/>
          <a:p>
            <a:pPr marL="256032" indent="-256032">
              <a:lnSpc>
                <a:spcPct val="125000"/>
              </a:lnSpc>
              <a:spcAft>
                <a:spcPts val="900"/>
              </a:spcAft>
              <a:buClr>
                <a:srgbClr val="4C5A6A"/>
              </a:buClr>
              <a:buFont typeface="Arial"/>
              <a:buChar char="—"/>
            </a:pPr>
            <a:r>
              <a:rPr sz="1050">
                <a:solidFill>
                  <a:srgbClr val="F2F5F8"/>
                </a:solidFill>
                <a:latin typeface="Segoe UI"/>
              </a:rPr>
              <a:t>Live dispatch state or unit telemetry</a:t>
            </a:r>
          </a:p>
          <a:p>
            <a:pPr marL="256032" indent="-256032">
              <a:lnSpc>
                <a:spcPct val="125000"/>
              </a:lnSpc>
              <a:spcAft>
                <a:spcPts val="900"/>
              </a:spcAft>
              <a:buClr>
                <a:srgbClr val="4C5A6A"/>
              </a:buClr>
              <a:buFont typeface="Arial"/>
              <a:buChar char="—"/>
            </a:pPr>
            <a:r>
              <a:rPr sz="1050">
                <a:solidFill>
                  <a:srgbClr val="F2F5F8"/>
                </a:solidFill>
                <a:latin typeface="Segoe UI"/>
              </a:rPr>
              <a:t>Push notifications</a:t>
            </a:r>
          </a:p>
          <a:p>
            <a:pPr marL="256032" indent="-256032">
              <a:lnSpc>
                <a:spcPct val="125000"/>
              </a:lnSpc>
              <a:spcAft>
                <a:spcPts val="900"/>
              </a:spcAft>
              <a:buClr>
                <a:srgbClr val="4C5A6A"/>
              </a:buClr>
              <a:buFont typeface="Arial"/>
              <a:buChar char="—"/>
            </a:pPr>
            <a:r>
              <a:rPr sz="1050">
                <a:solidFill>
                  <a:srgbClr val="F2F5F8"/>
                </a:solidFill>
                <a:latin typeface="Segoe UI"/>
              </a:rPr>
              <a:t>Database migrations</a:t>
            </a:r>
          </a:p>
          <a:p>
            <a:pPr marL="256032" indent="-256032">
              <a:lnSpc>
                <a:spcPct val="125000"/>
              </a:lnSpc>
              <a:spcAft>
                <a:spcPts val="900"/>
              </a:spcAft>
              <a:buClr>
                <a:srgbClr val="4C5A6A"/>
              </a:buClr>
              <a:buFont typeface="Arial"/>
              <a:buChar char="—"/>
            </a:pPr>
            <a:r>
              <a:rPr sz="1050">
                <a:solidFill>
                  <a:srgbClr val="F2F5F8"/>
                </a:solidFill>
                <a:latin typeface="Segoe UI"/>
              </a:rPr>
              <a:t>Any AI, voice or chat feature</a:t>
            </a:r>
          </a:p>
        </p:txBody>
      </p:sp>
      <p:sp>
        <p:nvSpPr>
          <p:cNvPr id="26" name="TextBox 25"/>
          <p:cNvSpPr txBox="1"/>
          <p:nvPr/>
        </p:nvSpPr>
        <p:spPr>
          <a:xfrm>
            <a:off x="731520" y="5349240"/>
            <a:ext cx="10728655" cy="320040"/>
          </a:xfrm>
          <a:prstGeom prst="rect">
            <a:avLst/>
          </a:prstGeom>
          <a:noFill/>
        </p:spPr>
        <p:txBody>
          <a:bodyPr wrap="square" lIns="0" rIns="0" tIns="0" bIns="0" anchor="t">
            <a:spAutoFit/>
          </a:bodyPr>
          <a:lstStyle/>
          <a:p>
            <a:pPr algn="l"/>
            <a:r>
              <a:rPr sz="1050" b="0" i="0">
                <a:solidFill>
                  <a:srgbClr val="93A1B0"/>
                </a:solidFill>
                <a:latin typeface="Segoe UI"/>
              </a:rPr>
              <a:t>The MVP proves the citizen flow and the wire format. Transport, GPS and persistence are the next phase — not claimed as done.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TextBox 1"/>
          <p:cNvSpPr txBox="1"/>
          <p:nvPr/>
        </p:nvSpPr>
        <p:spPr>
          <a:xfrm>
            <a:off x="731520" y="1051560"/>
            <a:ext cx="7315200" cy="274320"/>
          </a:xfrm>
          <a:prstGeom prst="rect">
            <a:avLst/>
          </a:prstGeom>
          <a:noFill/>
        </p:spPr>
        <p:txBody>
          <a:bodyPr wrap="square" lIns="0" rIns="0" tIns="0" bIns="0" anchor="t">
            <a:spAutoFit/>
          </a:bodyPr>
          <a:lstStyle/>
          <a:p>
            <a:pPr algn="l"/>
            <a:r>
              <a:rPr sz="1100" b="1" i="0" spc="200">
                <a:solidFill>
                  <a:srgbClr val="93A1B0"/>
                </a:solidFill>
                <a:latin typeface="Segoe UI"/>
              </a:rPr>
              <a:t>THE PRODUCT LAW</a:t>
            </a:r>
          </a:p>
        </p:txBody>
      </p:sp>
      <p:sp>
        <p:nvSpPr>
          <p:cNvPr id="3" name="TextBox 2"/>
          <p:cNvSpPr txBox="1"/>
          <p:nvPr/>
        </p:nvSpPr>
        <p:spPr>
          <a:xfrm>
            <a:off x="731520" y="1463040"/>
            <a:ext cx="10424160" cy="1463040"/>
          </a:xfrm>
          <a:prstGeom prst="rect">
            <a:avLst/>
          </a:prstGeom>
          <a:noFill/>
        </p:spPr>
        <p:txBody>
          <a:bodyPr wrap="square" lIns="0" rIns="0" tIns="0" bIns="0" anchor="t">
            <a:spAutoFit/>
          </a:bodyPr>
          <a:lstStyle/>
          <a:p>
            <a:pPr algn="l">
              <a:lnSpc>
                <a:spcPct val="112000"/>
              </a:lnSpc>
            </a:pPr>
            <a:r>
              <a:rPr sz="3800" b="1" i="0">
                <a:solidFill>
                  <a:srgbClr val="F2F5F8"/>
                </a:solidFill>
                <a:latin typeface="Segoe UI"/>
              </a:rPr>
              <a:t>The user flow must be immediately</a:t>
            </a:r>
          </a:p>
          <a:p>
            <a:pPr algn="l">
              <a:lnSpc>
                <a:spcPct val="112000"/>
              </a:lnSpc>
            </a:pPr>
            <a:r>
              <a:rPr sz="3800" b="1" i="0">
                <a:solidFill>
                  <a:srgbClr val="F2F5F8"/>
                </a:solidFill>
                <a:latin typeface="Segoe UI"/>
              </a:rPr>
              <a:t>intuitive for panicked users.</a:t>
            </a:r>
          </a:p>
        </p:txBody>
      </p:sp>
      <p:sp>
        <p:nvSpPr>
          <p:cNvPr id="4" name="TextBox 3"/>
          <p:cNvSpPr txBox="1"/>
          <p:nvPr/>
        </p:nvSpPr>
        <p:spPr>
          <a:xfrm>
            <a:off x="731520" y="3657600"/>
            <a:ext cx="2194560" cy="640080"/>
          </a:xfrm>
          <a:prstGeom prst="rect">
            <a:avLst/>
          </a:prstGeom>
          <a:noFill/>
        </p:spPr>
        <p:txBody>
          <a:bodyPr wrap="square" lIns="0" rIns="0" tIns="0" bIns="0" anchor="t">
            <a:spAutoFit/>
          </a:bodyPr>
          <a:lstStyle/>
          <a:p>
            <a:pPr algn="l"/>
            <a:r>
              <a:rPr sz="3200" b="1" i="0">
                <a:solidFill>
                  <a:srgbClr val="00D08A"/>
                </a:solidFill>
                <a:latin typeface="Segoe UI"/>
              </a:rPr>
              <a:t>≤ 2</a:t>
            </a:r>
          </a:p>
        </p:txBody>
      </p:sp>
      <p:sp>
        <p:nvSpPr>
          <p:cNvPr id="5" name="TextBox 4"/>
          <p:cNvSpPr txBox="1"/>
          <p:nvPr/>
        </p:nvSpPr>
        <p:spPr>
          <a:xfrm>
            <a:off x="731520" y="4315968"/>
            <a:ext cx="2194560" cy="274320"/>
          </a:xfrm>
          <a:prstGeom prst="rect">
            <a:avLst/>
          </a:prstGeom>
          <a:noFill/>
        </p:spPr>
        <p:txBody>
          <a:bodyPr wrap="square" lIns="0" rIns="0" tIns="0" bIns="0" anchor="t">
            <a:spAutoFit/>
          </a:bodyPr>
          <a:lstStyle/>
          <a:p>
            <a:pPr algn="l"/>
            <a:r>
              <a:rPr sz="1050" b="0" i="0" spc="120">
                <a:solidFill>
                  <a:srgbClr val="93A1B0"/>
                </a:solidFill>
                <a:latin typeface="Segoe UI"/>
              </a:rPr>
              <a:t>taps</a:t>
            </a:r>
          </a:p>
        </p:txBody>
      </p:sp>
      <p:sp>
        <p:nvSpPr>
          <p:cNvPr id="6" name="TextBox 5"/>
          <p:cNvSpPr txBox="1"/>
          <p:nvPr/>
        </p:nvSpPr>
        <p:spPr>
          <a:xfrm>
            <a:off x="3246120" y="3657600"/>
            <a:ext cx="2194560" cy="640080"/>
          </a:xfrm>
          <a:prstGeom prst="rect">
            <a:avLst/>
          </a:prstGeom>
          <a:noFill/>
        </p:spPr>
        <p:txBody>
          <a:bodyPr wrap="square" lIns="0" rIns="0" tIns="0" bIns="0" anchor="t">
            <a:spAutoFit/>
          </a:bodyPr>
          <a:lstStyle/>
          <a:p>
            <a:pPr algn="l"/>
            <a:r>
              <a:rPr sz="3200" b="1" i="0">
                <a:solidFill>
                  <a:srgbClr val="4CC2FF"/>
                </a:solidFill>
                <a:latin typeface="Segoe UI"/>
              </a:rPr>
              <a:t>≤ 1 s</a:t>
            </a:r>
          </a:p>
        </p:txBody>
      </p:sp>
      <p:sp>
        <p:nvSpPr>
          <p:cNvPr id="7" name="TextBox 6"/>
          <p:cNvSpPr txBox="1"/>
          <p:nvPr/>
        </p:nvSpPr>
        <p:spPr>
          <a:xfrm>
            <a:off x="3246120" y="4315968"/>
            <a:ext cx="2194560" cy="274320"/>
          </a:xfrm>
          <a:prstGeom prst="rect">
            <a:avLst/>
          </a:prstGeom>
          <a:noFill/>
        </p:spPr>
        <p:txBody>
          <a:bodyPr wrap="square" lIns="0" rIns="0" tIns="0" bIns="0" anchor="t">
            <a:spAutoFit/>
          </a:bodyPr>
          <a:lstStyle/>
          <a:p>
            <a:pPr algn="l"/>
            <a:r>
              <a:rPr sz="1050" b="0" i="0" spc="120">
                <a:solidFill>
                  <a:srgbClr val="93A1B0"/>
                </a:solidFill>
                <a:latin typeface="Segoe UI"/>
              </a:rPr>
              <a:t>to payload</a:t>
            </a:r>
          </a:p>
        </p:txBody>
      </p:sp>
      <p:sp>
        <p:nvSpPr>
          <p:cNvPr id="8" name="TextBox 7"/>
          <p:cNvSpPr txBox="1"/>
          <p:nvPr/>
        </p:nvSpPr>
        <p:spPr>
          <a:xfrm>
            <a:off x="5760720" y="3657600"/>
            <a:ext cx="2194560" cy="640080"/>
          </a:xfrm>
          <a:prstGeom prst="rect">
            <a:avLst/>
          </a:prstGeom>
          <a:noFill/>
        </p:spPr>
        <p:txBody>
          <a:bodyPr wrap="square" lIns="0" rIns="0" tIns="0" bIns="0" anchor="t">
            <a:spAutoFit/>
          </a:bodyPr>
          <a:lstStyle/>
          <a:p>
            <a:pPr algn="l"/>
            <a:r>
              <a:rPr sz="3200" b="1" i="0">
                <a:solidFill>
                  <a:srgbClr val="FFC53D"/>
                </a:solidFill>
                <a:latin typeface="Segoe UI"/>
              </a:rPr>
              <a:t>64 B</a:t>
            </a:r>
          </a:p>
        </p:txBody>
      </p:sp>
      <p:sp>
        <p:nvSpPr>
          <p:cNvPr id="9" name="TextBox 8"/>
          <p:cNvSpPr txBox="1"/>
          <p:nvPr/>
        </p:nvSpPr>
        <p:spPr>
          <a:xfrm>
            <a:off x="5760720" y="4315968"/>
            <a:ext cx="2194560" cy="274320"/>
          </a:xfrm>
          <a:prstGeom prst="rect">
            <a:avLst/>
          </a:prstGeom>
          <a:noFill/>
        </p:spPr>
        <p:txBody>
          <a:bodyPr wrap="square" lIns="0" rIns="0" tIns="0" bIns="0" anchor="t">
            <a:spAutoFit/>
          </a:bodyPr>
          <a:lstStyle/>
          <a:p>
            <a:pPr algn="l"/>
            <a:r>
              <a:rPr sz="1050" b="0" i="0" spc="120">
                <a:solidFill>
                  <a:srgbClr val="93A1B0"/>
                </a:solidFill>
                <a:latin typeface="Segoe UI"/>
              </a:rPr>
              <a:t>on air</a:t>
            </a:r>
          </a:p>
        </p:txBody>
      </p:sp>
      <p:sp>
        <p:nvSpPr>
          <p:cNvPr id="10" name="TextBox 9"/>
          <p:cNvSpPr txBox="1"/>
          <p:nvPr/>
        </p:nvSpPr>
        <p:spPr>
          <a:xfrm>
            <a:off x="8275320" y="3657600"/>
            <a:ext cx="2194560" cy="640080"/>
          </a:xfrm>
          <a:prstGeom prst="rect">
            <a:avLst/>
          </a:prstGeom>
          <a:noFill/>
        </p:spPr>
        <p:txBody>
          <a:bodyPr wrap="square" lIns="0" rIns="0" tIns="0" bIns="0" anchor="t">
            <a:spAutoFit/>
          </a:bodyPr>
          <a:lstStyle/>
          <a:p>
            <a:pPr algn="l"/>
            <a:r>
              <a:rPr sz="3200" b="1" i="0">
                <a:solidFill>
                  <a:srgbClr val="FF3B1F"/>
                </a:solidFill>
                <a:latin typeface="Segoe UI"/>
              </a:rPr>
              <a:t>0</a:t>
            </a:r>
          </a:p>
        </p:txBody>
      </p:sp>
      <p:sp>
        <p:nvSpPr>
          <p:cNvPr id="11" name="TextBox 10"/>
          <p:cNvSpPr txBox="1"/>
          <p:nvPr/>
        </p:nvSpPr>
        <p:spPr>
          <a:xfrm>
            <a:off x="8275320" y="4315968"/>
            <a:ext cx="2194560" cy="274320"/>
          </a:xfrm>
          <a:prstGeom prst="rect">
            <a:avLst/>
          </a:prstGeom>
          <a:noFill/>
        </p:spPr>
        <p:txBody>
          <a:bodyPr wrap="square" lIns="0" rIns="0" tIns="0" bIns="0" anchor="t">
            <a:spAutoFit/>
          </a:bodyPr>
          <a:lstStyle/>
          <a:p>
            <a:pPr algn="l"/>
            <a:r>
              <a:rPr sz="1050" b="0" i="0" spc="120">
                <a:solidFill>
                  <a:srgbClr val="93A1B0"/>
                </a:solidFill>
                <a:latin typeface="Segoe UI"/>
              </a:rPr>
              <a:t>PII</a:t>
            </a:r>
          </a:p>
        </p:txBody>
      </p:sp>
      <p:sp>
        <p:nvSpPr>
          <p:cNvPr id="12" name="Rectangle 11"/>
          <p:cNvSpPr/>
          <p:nvPr/>
        </p:nvSpPr>
        <p:spPr>
          <a:xfrm>
            <a:off x="731520" y="5029200"/>
            <a:ext cx="10728655" cy="10058"/>
          </a:xfrm>
          <a:prstGeom prst="rect">
            <a:avLst/>
          </a:prstGeom>
          <a:solidFill>
            <a:srgbClr val="2A3441"/>
          </a:solidFill>
          <a:ln>
            <a:noFill/>
          </a:ln>
          <a:effectLst/>
        </p:spPr>
        <p:txBody>
          <a:bodyPr rtlCol="0" anchor="ctr"/>
          <a:lstStyle/>
          <a:p/>
        </p:txBody>
      </p:sp>
      <p:sp>
        <p:nvSpPr>
          <p:cNvPr id="13" name="TextBox 12"/>
          <p:cNvSpPr txBox="1"/>
          <p:nvPr/>
        </p:nvSpPr>
        <p:spPr>
          <a:xfrm>
            <a:off x="731520" y="5230368"/>
            <a:ext cx="6858000" cy="548640"/>
          </a:xfrm>
          <a:prstGeom prst="rect">
            <a:avLst/>
          </a:prstGeom>
          <a:noFill/>
        </p:spPr>
        <p:txBody>
          <a:bodyPr wrap="square" lIns="0" rIns="0" tIns="0" bIns="0" anchor="t">
            <a:spAutoFit/>
          </a:bodyPr>
          <a:lstStyle/>
          <a:p>
            <a:pPr algn="l"/>
            <a:r>
              <a:rPr sz="1700" b="1" i="0">
                <a:solidFill>
                  <a:srgbClr val="F2F5F8"/>
                </a:solidFill>
                <a:latin typeface="Segoe UI"/>
              </a:rPr>
              <a:t>One tap. One payload. One dispatch.</a:t>
            </a:r>
          </a:p>
        </p:txBody>
      </p:sp>
      <p:sp>
        <p:nvSpPr>
          <p:cNvPr id="14" name="TextBox 13"/>
          <p:cNvSpPr txBox="1"/>
          <p:nvPr/>
        </p:nvSpPr>
        <p:spPr>
          <a:xfrm>
            <a:off x="7253935" y="5248656"/>
            <a:ext cx="4206240" cy="548640"/>
          </a:xfrm>
          <a:prstGeom prst="rect">
            <a:avLst/>
          </a:prstGeom>
          <a:noFill/>
        </p:spPr>
        <p:txBody>
          <a:bodyPr wrap="square" lIns="0" rIns="0" tIns="0" bIns="0" anchor="t">
            <a:spAutoFit/>
          </a:bodyPr>
          <a:lstStyle/>
          <a:p>
            <a:pPr algn="r">
              <a:lnSpc>
                <a:spcPct val="140000"/>
              </a:lnSpc>
            </a:pPr>
            <a:r>
              <a:rPr sz="1050" b="0" i="0">
                <a:solidFill>
                  <a:srgbClr val="93A1B0"/>
                </a:solidFill>
                <a:latin typeface="Segoe UI"/>
              </a:rPr>
              <a:t>AIRA — AI Responsive Alert</a:t>
            </a:r>
          </a:p>
          <a:p>
            <a:pPr algn="r">
              <a:lnSpc>
                <a:spcPct val="140000"/>
              </a:lnSpc>
            </a:pPr>
            <a:r>
              <a:rPr sz="1050" b="0" i="0">
                <a:solidFill>
                  <a:srgbClr val="93A1B0"/>
                </a:solidFill>
                <a:latin typeface="Segoe UI"/>
              </a:rPr>
              <a:t>Cebu · offline-first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AIRA — Product Overview</dc:title>
  <dc:subject>Offline-first emergency reporting for Cebu</dc:subject>
  <dc:creator>AIRA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